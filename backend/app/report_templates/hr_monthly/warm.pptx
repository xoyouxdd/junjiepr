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slides/charts/chart1.xml" ContentType="application/vnd.openxmlformats-officedocument.drawingml.chart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2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slides/charts/chart3.xml" ContentType="application/vnd.openxmlformats-officedocument.drawingml.chart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5d915102aa94a11" /><Relationship Type="http://schemas.openxmlformats.org/officeDocument/2006/relationships/extended-properties" Target="/docProps/app.xml" Id="R5bbc0430552d4e58" /><Relationship Type="http://schemas.openxmlformats.org/officeDocument/2006/relationships/officeDocument" Target="/ppt/presentation.xml" Id="R2bf39eb6b710418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9c82c49b79a45bf"/>
  </p:sldMasterIdLst>
  <p:notesMasterIdLst>
    <p:notesMasterId xmlns:r="http://schemas.openxmlformats.org/officeDocument/2006/relationships" r:id="Rac5468f7a0c24d1f"/>
  </p:notesMasterIdLst>
  <p:sldIdLst>
    <p:sldId xmlns:r="http://schemas.openxmlformats.org/officeDocument/2006/relationships" id="256" r:id="R78f5bc87bf104f68"/>
    <p:sldId xmlns:r="http://schemas.openxmlformats.org/officeDocument/2006/relationships" id="257" r:id="Rca2bc00dce9d42d0"/>
    <p:sldId xmlns:r="http://schemas.openxmlformats.org/officeDocument/2006/relationships" id="258" r:id="R99e729940ac447d4"/>
    <p:sldId xmlns:r="http://schemas.openxmlformats.org/officeDocument/2006/relationships" id="259" r:id="Rc99cd37ba9b54cb7"/>
    <p:sldId xmlns:r="http://schemas.openxmlformats.org/officeDocument/2006/relationships" id="260" r:id="R0686b2f2fbd84428"/>
    <p:sldId xmlns:r="http://schemas.openxmlformats.org/officeDocument/2006/relationships" id="261" r:id="Red7e047c56c94210"/>
    <p:sldId xmlns:r="http://schemas.openxmlformats.org/officeDocument/2006/relationships" id="262" r:id="Rfb32db320ec94dd7"/>
    <p:sldId xmlns:r="http://schemas.openxmlformats.org/officeDocument/2006/relationships" id="263" r:id="R502cc2ff7c38462c"/>
    <p:sldId xmlns:r="http://schemas.openxmlformats.org/officeDocument/2006/relationships" id="264" r:id="R646647490cab4c82"/>
    <p:sldId xmlns:r="http://schemas.openxmlformats.org/officeDocument/2006/relationships" id="265" r:id="Rf1125cb2deb14ca7"/>
    <p:sldId xmlns:r="http://schemas.openxmlformats.org/officeDocument/2006/relationships" id="266" r:id="R9b0e0f0cf0004c7d"/>
    <p:sldId xmlns:r="http://schemas.openxmlformats.org/officeDocument/2006/relationships" id="267" r:id="Rcbea8c5a0a304da4"/>
    <p:sldId xmlns:r="http://schemas.openxmlformats.org/officeDocument/2006/relationships" id="268" r:id="R4e573a4798454624"/>
    <p:sldId xmlns:r="http://schemas.openxmlformats.org/officeDocument/2006/relationships" id="269" r:id="Ra22934e6b208459e"/>
    <p:sldId xmlns:r="http://schemas.openxmlformats.org/officeDocument/2006/relationships" id="270" r:id="R5680c1ee0856438a"/>
    <p:sldId xmlns:r="http://schemas.openxmlformats.org/officeDocument/2006/relationships" id="271" r:id="Rcfbe7385ba8c41c4"/>
    <p:sldId xmlns:r="http://schemas.openxmlformats.org/officeDocument/2006/relationships" id="272" r:id="R5f4b8c480bd24e8e"/>
    <p:sldId xmlns:r="http://schemas.openxmlformats.org/officeDocument/2006/relationships" id="273" r:id="R7725c394340f4422"/>
    <p:sldId xmlns:r="http://schemas.openxmlformats.org/officeDocument/2006/relationships" id="274" r:id="R3cbb6d85b40744a8"/>
    <p:sldId xmlns:r="http://schemas.openxmlformats.org/officeDocument/2006/relationships" id="275" r:id="R1fb5ef7b6483416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c91bbe251904ef6" /><Relationship Type="http://schemas.openxmlformats.org/officeDocument/2006/relationships/slideMaster" Target="/ppt/slideMasters/slideMaster1.xml" Id="R59c82c49b79a45bf" /><Relationship Type="http://schemas.openxmlformats.org/officeDocument/2006/relationships/notesMaster" Target="/ppt/notesMasters/notesMaster1.xml" Id="Rac5468f7a0c24d1f" /><Relationship Type="http://schemas.openxmlformats.org/officeDocument/2006/relationships/presProps" Target="/ppt/presProps.xml" Id="R138b957b7874426d" /><Relationship Type="http://schemas.openxmlformats.org/officeDocument/2006/relationships/tableStyles" Target="/ppt/tableStyles.xml" Id="R114f9a2e8a5d4d6a" /><Relationship Type="http://schemas.openxmlformats.org/officeDocument/2006/relationships/slide" Target="/ppt/slides/slide1.xml" Id="R78f5bc87bf104f68" /><Relationship Type="http://schemas.openxmlformats.org/officeDocument/2006/relationships/slide" Target="/ppt/slides/slide2.xml" Id="Rca2bc00dce9d42d0" /><Relationship Type="http://schemas.openxmlformats.org/officeDocument/2006/relationships/slide" Target="/ppt/slides/slide3.xml" Id="R99e729940ac447d4" /><Relationship Type="http://schemas.openxmlformats.org/officeDocument/2006/relationships/slide" Target="/ppt/slides/slide4.xml" Id="Rc99cd37ba9b54cb7" /><Relationship Type="http://schemas.openxmlformats.org/officeDocument/2006/relationships/slide" Target="/ppt/slides/slide5.xml" Id="R0686b2f2fbd84428" /><Relationship Type="http://schemas.openxmlformats.org/officeDocument/2006/relationships/slide" Target="/ppt/slides/slide6.xml" Id="Red7e047c56c94210" /><Relationship Type="http://schemas.openxmlformats.org/officeDocument/2006/relationships/slide" Target="/ppt/slides/slide7.xml" Id="Rfb32db320ec94dd7" /><Relationship Type="http://schemas.openxmlformats.org/officeDocument/2006/relationships/slide" Target="/ppt/slides/slide8.xml" Id="R502cc2ff7c38462c" /><Relationship Type="http://schemas.openxmlformats.org/officeDocument/2006/relationships/slide" Target="/ppt/slides/slide9.xml" Id="R646647490cab4c82" /><Relationship Type="http://schemas.openxmlformats.org/officeDocument/2006/relationships/slide" Target="/ppt/slides/slide10.xml" Id="Rf1125cb2deb14ca7" /><Relationship Type="http://schemas.openxmlformats.org/officeDocument/2006/relationships/slide" Target="/ppt/slides/slide11.xml" Id="R9b0e0f0cf0004c7d" /><Relationship Type="http://schemas.openxmlformats.org/officeDocument/2006/relationships/slide" Target="/ppt/slides/slide12.xml" Id="Rcbea8c5a0a304da4" /><Relationship Type="http://schemas.openxmlformats.org/officeDocument/2006/relationships/slide" Target="/ppt/slides/slide13.xml" Id="R4e573a4798454624" /><Relationship Type="http://schemas.openxmlformats.org/officeDocument/2006/relationships/slide" Target="/ppt/slides/slide14.xml" Id="Ra22934e6b208459e" /><Relationship Type="http://schemas.openxmlformats.org/officeDocument/2006/relationships/slide" Target="/ppt/slides/slide15.xml" Id="R5680c1ee0856438a" /><Relationship Type="http://schemas.openxmlformats.org/officeDocument/2006/relationships/slide" Target="/ppt/slides/slide16.xml" Id="Rcfbe7385ba8c41c4" /><Relationship Type="http://schemas.openxmlformats.org/officeDocument/2006/relationships/slide" Target="/ppt/slides/slide17.xml" Id="R5f4b8c480bd24e8e" /><Relationship Type="http://schemas.openxmlformats.org/officeDocument/2006/relationships/slide" Target="/ppt/slides/slide18.xml" Id="R7725c394340f4422" /><Relationship Type="http://schemas.openxmlformats.org/officeDocument/2006/relationships/slide" Target="/ppt/slides/slide19.xml" Id="R3cbb6d85b40744a8" /><Relationship Type="http://schemas.openxmlformats.org/officeDocument/2006/relationships/slide" Target="/ppt/slides/slide20.xml" Id="R1fb5ef7b6483416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97e2c4bf264447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9997f0d24eb4387" /><Relationship Type="http://schemas.openxmlformats.org/officeDocument/2006/relationships/notesMaster" Target="/ppt/notesMasters/notesMaster1.xml" Id="Rc09f83becccc408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241e921cbb34364" /><Relationship Type="http://schemas.openxmlformats.org/officeDocument/2006/relationships/notesMaster" Target="/ppt/notesMasters/notesMaster1.xml" Id="R5fd1eb1bcaee419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fa44a7c19174a08" /><Relationship Type="http://schemas.openxmlformats.org/officeDocument/2006/relationships/notesMaster" Target="/ppt/notesMasters/notesMaster1.xml" Id="R417a7e35d63e460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ffcad5a01f6480e" /><Relationship Type="http://schemas.openxmlformats.org/officeDocument/2006/relationships/notesMaster" Target="/ppt/notesMasters/notesMaster1.xml" Id="R4d1fe44398c048a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1609e2252034833" /><Relationship Type="http://schemas.openxmlformats.org/officeDocument/2006/relationships/notesMaster" Target="/ppt/notesMasters/notesMaster1.xml" Id="R98111088ec9e48e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48e4b8dedb24c89" /><Relationship Type="http://schemas.openxmlformats.org/officeDocument/2006/relationships/notesMaster" Target="/ppt/notesMasters/notesMaster1.xml" Id="Rc3743782b258404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1f47ce957954b72" /><Relationship Type="http://schemas.openxmlformats.org/officeDocument/2006/relationships/notesMaster" Target="/ppt/notesMasters/notesMaster1.xml" Id="Ra9e0c9d23b09488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94a96199c6a4dfa" /><Relationship Type="http://schemas.openxmlformats.org/officeDocument/2006/relationships/notesMaster" Target="/ppt/notesMasters/notesMaster1.xml" Id="R6a524ad78bfb452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39bcc8f45d143cd" /><Relationship Type="http://schemas.openxmlformats.org/officeDocument/2006/relationships/notesMaster" Target="/ppt/notesMasters/notesMaster1.xml" Id="R1c79270864b34279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bb642e8a3b84498" /><Relationship Type="http://schemas.openxmlformats.org/officeDocument/2006/relationships/notesMaster" Target="/ppt/notesMasters/notesMaster1.xml" Id="R449c2be2c23643ff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9c41313858b24ac0" /><Relationship Type="http://schemas.openxmlformats.org/officeDocument/2006/relationships/notesMaster" Target="/ppt/notesMasters/notesMaster1.xml" Id="Ra90ce6b111b84c31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78a1d92a345c4cd8" /><Relationship Type="http://schemas.openxmlformats.org/officeDocument/2006/relationships/notesMaster" Target="/ppt/notesMasters/notesMaster1.xml" Id="Rddfb4e588b0b41f4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d2757ea10d2f49c6" /><Relationship Type="http://schemas.openxmlformats.org/officeDocument/2006/relationships/notesMaster" Target="/ppt/notesMasters/notesMaster1.xml" Id="R17023d3b2a174699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2acc5d14b27b4b0a" /><Relationship Type="http://schemas.openxmlformats.org/officeDocument/2006/relationships/notesMaster" Target="/ppt/notesMasters/notesMaster1.xml" Id="R0283cf1d111f4898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05f14cb021fb4080" /><Relationship Type="http://schemas.openxmlformats.org/officeDocument/2006/relationships/notesMaster" Target="/ppt/notesMasters/notesMaster1.xml" Id="R24c1504d781a4d79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ed2e6cc83c6548db" /><Relationship Type="http://schemas.openxmlformats.org/officeDocument/2006/relationships/notesMaster" Target="/ppt/notesMasters/notesMaster1.xml" Id="R8249792fadcf43fb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72dccfe89da34008" /><Relationship Type="http://schemas.openxmlformats.org/officeDocument/2006/relationships/notesMaster" Target="/ppt/notesMasters/notesMaster1.xml" Id="R3aeb89314e714381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3844a97c2ca44839" /><Relationship Type="http://schemas.openxmlformats.org/officeDocument/2006/relationships/notesMaster" Target="/ppt/notesMasters/notesMaster1.xml" Id="R36e6d794e4534b20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a5f8f8e2c302433a" /><Relationship Type="http://schemas.openxmlformats.org/officeDocument/2006/relationships/notesMaster" Target="/ppt/notesMasters/notesMaster1.xml" Id="R3aeda32fe6c34371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32bb6332f1084f71" /><Relationship Type="http://schemas.openxmlformats.org/officeDocument/2006/relationships/notesMaster" Target="/ppt/notesMasters/notesMaster1.xml" Id="R7fd63119e28342e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可重复使用的HR月报模板。所有数字、工号和姓名均为明确标注的示例数据，不代表真实员工或正式统计。设计参考用户提供的6月、7月、8月HR月报。背景为本次Image Gen原创素材。系统接入后必须复用现有统计规则。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可重复使用的HR月报模板。所有数字、工号和姓名均为明确标注的示例数据，不代表真实员工或正式统计。设计参考用户提供的6月、7月、8月HR月报。背景为本次Image Gen原创素材。系统接入后必须复用现有统计规则。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可重复使用的HR月报模板。所有数字、工号和姓名均为明确标注的示例数据，不代表真实员工或正式统计。设计参考用户提供的6月、7月、8月HR月报。背景为本次Image Gen原创素材。系统接入后必须复用现有统计规则。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可重复使用的HR月报模板。所有数字、工号和姓名均为明确标注的示例数据，不代表真实员工或正式统计。设计参考用户提供的6月、7月、8月HR月报。背景为本次Image Gen原创素材。系统接入后必须复用现有统计规则。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可重复使用的HR月报模板。所有数字、工号和姓名均为明确标注的示例数据，不代表真实员工或正式统计。设计参考用户提供的6月、7月、8月HR月报。背景为本次Image Gen原创素材。系统接入后必须复用现有统计规则。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可重复使用的HR月报模板。所有数字、工号和姓名均为明确标注的示例数据，不代表真实员工或正式统计。设计参考用户提供的6月、7月、8月HR月报。背景为本次Image Gen原创素材。系统接入后必须复用现有统计规则。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可重复使用的HR月报模板。所有数字、工号和姓名均为明确标注的示例数据，不代表真实员工或正式统计。设计参考用户提供的6月、7月、8月HR月报。背景为本次Image Gen原创素材。系统接入后必须复用现有统计规则。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可重复使用的HR月报模板。所有数字、工号和姓名均为明确标注的示例数据，不代表真实员工或正式统计。设计参考用户提供的6月、7月、8月HR月报。背景为本次Image Gen原创素材。系统接入后必须复用现有统计规则。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可重复使用的HR月报模板。所有数字、工号和姓名均为明确标注的示例数据，不代表真实员工或正式统计。设计参考用户提供的6月、7月、8月HR月报。背景为本次Image Gen原创素材。系统接入后必须复用现有统计规则。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可重复使用的HR月报模板。所有数字、工号和姓名均为明确标注的示例数据，不代表真实员工或正式统计。设计参考用户提供的6月、7月、8月HR月报。背景为本次Image Gen原创素材。系统接入后必须复用现有统计规则。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可重复使用的HR月报模板。所有数字、工号和姓名均为明确标注的示例数据，不代表真实员工或正式统计。设计参考用户提供的6月、7月、8月HR月报。背景为本次Image Gen原创素材。系统接入后必须复用现有统计规则。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可重复使用的HR月报模板。所有数字、工号和姓名均为明确标注的示例数据，不代表真实员工或正式统计。设计参考用户提供的6月、7月、8月HR月报。背景为本次Image Gen原创素材。系统接入后必须复用现有统计规则。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可重复使用的HR月报模板。所有数字、工号和姓名均为明确标注的示例数据，不代表真实员工或正式统计。设计参考用户提供的6月、7月、8月HR月报。背景为本次Image Gen原创素材。系统接入后必须复用现有统计规则。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可重复使用的HR月报模板。所有数字、工号和姓名均为明确标注的示例数据，不代表真实员工或正式统计。设计参考用户提供的6月、7月、8月HR月报。背景为本次Image Gen原创素材。系统接入后必须复用现有统计规则。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可重复使用的HR月报模板。所有数字、工号和姓名均为明确标注的示例数据，不代表真实员工或正式统计。设计参考用户提供的6月、7月、8月HR月报。背景为本次Image Gen原创素材。系统接入后必须复用现有统计规则。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可重复使用的HR月报模板。所有数字、工号和姓名均为明确标注的示例数据，不代表真实员工或正式统计。设计参考用户提供的6月、7月、8月HR月报。背景为本次Image Gen原创素材。系统接入后必须复用现有统计规则。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可重复使用的HR月报模板。所有数字、工号和姓名均为明确标注的示例数据，不代表真实员工或正式统计。设计参考用户提供的6月、7月、8月HR月报。背景为本次Image Gen原创素材。系统接入后必须复用现有统计规则。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可重复使用的HR月报模板。所有数字、工号和姓名均为明确标注的示例数据，不代表真实员工或正式统计。设计参考用户提供的6月、7月、8月HR月报。背景为本次Image Gen原创素材。系统接入后必须复用现有统计规则。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可重复使用的HR月报模板。所有数字、工号和姓名均为明确标注的示例数据，不代表真实员工或正式统计。设计参考用户提供的6月、7月、8月HR月报。背景为本次Image Gen原创素材。系统接入后必须复用现有统计规则。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可重复使用的HR月报模板。所有数字、工号和姓名均为明确标注的示例数据，不代表真实员工或正式统计。设计参考用户提供的6月、7月、8月HR月报。背景为本次Image Gen原创素材。系统接入后必须复用现有统计规则。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70555f987454df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65ed75d143347fd" /><Relationship Type="http://schemas.openxmlformats.org/officeDocument/2006/relationships/slideLayout" Target="/ppt/slideLayouts/slideLayout1.xml" Id="Ra02b456710774ee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02b456710774ee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6940583c5f4375" /><Relationship Type="http://schemas.openxmlformats.org/officeDocument/2006/relationships/image" Target="/ppt/media/image.png" Id="R27438f87b35143b3" /><Relationship Type="http://schemas.openxmlformats.org/officeDocument/2006/relationships/notesSlide" Target="/ppt/notesSlides/notesSlide1.xml" Id="R2dd90bfaa122410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30e20d12214911" /><Relationship Type="http://schemas.openxmlformats.org/officeDocument/2006/relationships/notesSlide" Target="/ppt/notesSlides/notesSlide2.xml" Id="R4c05a6ec31d7441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8e082e62ee430c" /><Relationship Type="http://schemas.openxmlformats.org/officeDocument/2006/relationships/chart" Target="/ppt/slides/charts/chart1.xml" Id="R9fdf5823ec3d455d" /><Relationship Type="http://schemas.openxmlformats.org/officeDocument/2006/relationships/notesSlide" Target="/ppt/notesSlides/notesSlide3.xml" Id="R9e2fb02dd160470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a5827a6d3c4704" /><Relationship Type="http://schemas.openxmlformats.org/officeDocument/2006/relationships/notesSlide" Target="/ppt/notesSlides/notesSlide4.xml" Id="Rf6e54bee97c1441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cb391deb724485b" /><Relationship Type="http://schemas.openxmlformats.org/officeDocument/2006/relationships/chart" Target="/ppt/slides/charts/chart2.xml" Id="R34683a5223e14eb3" /><Relationship Type="http://schemas.openxmlformats.org/officeDocument/2006/relationships/notesSlide" Target="/ppt/notesSlides/notesSlide5.xml" Id="Rb9f1aeee088e4bf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84cbab8792432c" /><Relationship Type="http://schemas.openxmlformats.org/officeDocument/2006/relationships/notesSlide" Target="/ppt/notesSlides/notesSlide6.xml" Id="R3d33ce08e7734e5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9db43a261ac434d" /><Relationship Type="http://schemas.openxmlformats.org/officeDocument/2006/relationships/notesSlide" Target="/ppt/notesSlides/notesSlide7.xml" Id="R77255f1c5ac349f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eb4dde710c4884" /><Relationship Type="http://schemas.openxmlformats.org/officeDocument/2006/relationships/notesSlide" Target="/ppt/notesSlides/notesSlide8.xml" Id="R7697082559f043b2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9307af71944ba9" /><Relationship Type="http://schemas.openxmlformats.org/officeDocument/2006/relationships/chart" Target="/ppt/slides/charts/chart3.xml" Id="Ra1c53a02f0134451" /><Relationship Type="http://schemas.openxmlformats.org/officeDocument/2006/relationships/notesSlide" Target="/ppt/notesSlides/notesSlide9.xml" Id="R8beaef85391e4ac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ca8153bcbb4ec4" /><Relationship Type="http://schemas.openxmlformats.org/officeDocument/2006/relationships/notesSlide" Target="/ppt/notesSlides/notesSlide10.xml" Id="R0cd6b2923bfd4587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2f96ec33224b95" /><Relationship Type="http://schemas.openxmlformats.org/officeDocument/2006/relationships/notesSlide" Target="/ppt/notesSlides/notesSlide11.xml" Id="R54b127178c0c457e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ebb80abbad4067" /><Relationship Type="http://schemas.openxmlformats.org/officeDocument/2006/relationships/notesSlide" Target="/ppt/notesSlides/notesSlide12.xml" Id="R6fc2487f264b4116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58c3b3ece934e5b" /><Relationship Type="http://schemas.openxmlformats.org/officeDocument/2006/relationships/notesSlide" Target="/ppt/notesSlides/notesSlide13.xml" Id="R099c9c558849469c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9cab3ab85e4a03" /><Relationship Type="http://schemas.openxmlformats.org/officeDocument/2006/relationships/notesSlide" Target="/ppt/notesSlides/notesSlide14.xml" Id="R3e56668dbab04e7d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bc3759e8fc4adf" /><Relationship Type="http://schemas.openxmlformats.org/officeDocument/2006/relationships/notesSlide" Target="/ppt/notesSlides/notesSlide15.xml" Id="R5d4a53be3f3440c3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66eadf46a04f33" /><Relationship Type="http://schemas.openxmlformats.org/officeDocument/2006/relationships/notesSlide" Target="/ppt/notesSlides/notesSlide16.xml" Id="Rc556780242704abe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873ab9e4fcb4b24" /><Relationship Type="http://schemas.openxmlformats.org/officeDocument/2006/relationships/notesSlide" Target="/ppt/notesSlides/notesSlide17.xml" Id="R6ab6fb6dd04f4b1e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770eceeed64aaf" /><Relationship Type="http://schemas.openxmlformats.org/officeDocument/2006/relationships/notesSlide" Target="/ppt/notesSlides/notesSlide18.xml" Id="R70a9e9f32b9e4a27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7b816e5f0e4bed" /><Relationship Type="http://schemas.openxmlformats.org/officeDocument/2006/relationships/notesSlide" Target="/ppt/notesSlides/notesSlide19.xml" Id="R88b987ebc40b46f0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959650299a84e1f" /><Relationship Type="http://schemas.openxmlformats.org/officeDocument/2006/relationships/image" Target="/ppt/media/image2.png" Id="R3ba2a3aa891445f4" /><Relationship Type="http://schemas.openxmlformats.org/officeDocument/2006/relationships/notesSlide" Target="/ppt/notesSlides/notesSlide20.xml" Id="R45b5e168d7504f35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_rels/chart3.xml.rels><Relationships xmlns="http://schemas.openxmlformats.org/package/2006/relationships"><Relationship Id="rIdChartSnapshot1" Type="http://schemas.openxmlformats.org/officeDocument/2006/relationships/package" Target="../../embeddings/chart-data-snapshot-003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CM / TR</c:v>
          </c:tx>
          <c:spPr>
            <a:solidFill xmlns:a="http://schemas.openxmlformats.org/drawingml/2006/main">
              <a:srgbClr val="BB8932"/>
            </a:solidFill>
          </c:spPr>
          <c:cat>
            <c:strRef>
              <c:f>'Chart Data'!$A$2:$A$5</c:f>
              <c:strCache>
                <c:ptCount val="4"/>
                <c:pt idx="0">
                  <c:v>安全</c:v>
                </c:pt>
                <c:pt idx="1">
                  <c:v>礼貌</c:v>
                </c:pt>
                <c:pt idx="2">
                  <c:v>效率</c:v>
                </c:pt>
                <c:pt idx="3">
                  <c:v>其他</c:v>
                </c:pt>
              </c:strCache>
            </c:strRef>
          </c:cat>
          <c:val>
            <c:numRef>
              <c:f>'Chart Data'!$B$2:$B$5</c:f>
              <c:numCache>
                <c:formatCode>General</c:formatCode>
                <c:ptCount val="4"/>
                <c:pt idx="0">
                  <c:v>5</c:v>
                </c:pt>
                <c:pt idx="1">
                  <c:v>3</c:v>
                </c:pt>
                <c:pt idx="2">
                  <c:v>6</c:v>
                </c:pt>
                <c:pt idx="3">
                  <c:v>2</c:v>
                </c:pt>
              </c:numCache>
            </c:numRef>
          </c:val>
        </c:ser>
        <c:ser>
          <c:idx val="1"/>
          <c:order val="1"/>
          <c:tx>
            <c:v>LEAD</c:v>
          </c:tx>
          <c:spPr>
            <a:solidFill xmlns:a="http://schemas.openxmlformats.org/drawingml/2006/main">
              <a:srgbClr val="31745A"/>
            </a:solidFill>
          </c:spPr>
          <c:cat>
            <c:strRef>
              <c:f>'Chart Data'!$C$2:$C$5</c:f>
              <c:strCache>
                <c:ptCount val="4"/>
                <c:pt idx="0">
                  <c:v>安全</c:v>
                </c:pt>
                <c:pt idx="1">
                  <c:v>礼貌</c:v>
                </c:pt>
                <c:pt idx="2">
                  <c:v>效率</c:v>
                </c:pt>
                <c:pt idx="3">
                  <c:v>其他</c:v>
                </c:pt>
              </c:strCache>
            </c:strRef>
          </c:cat>
          <c:val>
            <c:numRef>
              <c:f>'Chart Data'!$D$2:$D$5</c:f>
              <c:numCache>
                <c:formatCode>General</c:formatCode>
                <c:ptCount val="4"/>
                <c:pt idx="0">
                  <c:v>2</c:v>
                </c:pt>
                <c:pt idx="1">
                  <c:v>1</c:v>
                </c:pt>
                <c:pt idx="2">
                  <c:v>3</c:v>
                </c:pt>
                <c:pt idx="3">
                  <c:v>2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650" b="1">
                  <a:solidFill>
                    <a:srgbClr val="175540"/>
                  </a:solidFill>
                  <a:latin typeface="Microsoft YaHei"/>
                  <a:ea typeface="Microsoft YaHei"/>
                  <a:cs typeface="Microsoft YaHe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175540"/>
                </a:solidFill>
                <a:latin typeface="Microsoft YaHei"/>
                <a:ea typeface="Microsoft YaHei"/>
                <a:cs typeface="Microsoft YaHei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175540"/>
                </a:solidFill>
                <a:latin typeface="Microsoft YaHei"/>
                <a:ea typeface="Microsoft YaHei"/>
                <a:cs typeface="Microsoft YaHei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FFCF4"/>
        </a:solidFill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650">
              <a:solidFill>
                <a:srgbClr val="175540"/>
              </a:solidFill>
              <a:latin typeface="Microsoft YaHei"/>
              <a:ea typeface="Microsoft YaHei"/>
              <a:cs typeface="Microsoft YaHei"/>
            </a:defRPr>
          </a:pPr>
        </a:p>
      </c:txPr>
    </c:legend>
    <c:plotVisOnly val="1"/>
  </c:chart>
  <c:spPr>
    <a:solidFill xmlns:a="http://schemas.openxmlformats.org/drawingml/2006/main">
      <a:srgbClr val="FFFCF4"/>
    </a:solidFill>
  </c:spPr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CM / TR</c:v>
          </c:tx>
          <c:spPr>
            <a:solidFill xmlns:a="http://schemas.openxmlformats.org/drawingml/2006/main">
              <a:srgbClr val="BB8932"/>
            </a:solidFill>
          </c:spPr>
          <c:cat>
            <c:strRef>
              <c:f>'Chart Data'!$A$2:$A$6</c:f>
              <c:strCache>
                <c:ptCount val="5"/>
                <c:pt idx="0">
                  <c:v>安全</c:v>
                </c:pt>
                <c:pt idx="1">
                  <c:v>礼貌</c:v>
                </c:pt>
                <c:pt idx="2">
                  <c:v>包容</c:v>
                </c:pt>
                <c:pt idx="3">
                  <c:v>演出</c:v>
                </c:pt>
                <c:pt idx="4">
                  <c:v>效率</c:v>
                </c:pt>
              </c:strCache>
            </c:strRef>
          </c:cat>
          <c:val>
            <c:numRef>
              <c:f>'Chart Data'!$B$2:$B$6</c:f>
              <c:numCache>
                <c:formatCode>General</c:formatCode>
                <c:ptCount val="5"/>
                <c:pt idx="0">
                  <c:v>150</c:v>
                </c:pt>
                <c:pt idx="1">
                  <c:v>240</c:v>
                </c:pt>
                <c:pt idx="2">
                  <c:v>100</c:v>
                </c:pt>
                <c:pt idx="3">
                  <c:v>180</c:v>
                </c:pt>
                <c:pt idx="4">
                  <c:v>170</c:v>
                </c:pt>
              </c:numCache>
            </c:numRef>
          </c:val>
        </c:ser>
        <c:ser>
          <c:idx val="1"/>
          <c:order val="1"/>
          <c:tx>
            <c:v>LEAD</c:v>
          </c:tx>
          <c:spPr>
            <a:solidFill xmlns:a="http://schemas.openxmlformats.org/drawingml/2006/main">
              <a:srgbClr val="31745A"/>
            </a:solidFill>
          </c:spPr>
          <c:cat>
            <c:strRef>
              <c:f>'Chart Data'!$C$2:$C$6</c:f>
              <c:strCache>
                <c:ptCount val="5"/>
                <c:pt idx="0">
                  <c:v>安全</c:v>
                </c:pt>
                <c:pt idx="1">
                  <c:v>礼貌</c:v>
                </c:pt>
                <c:pt idx="2">
                  <c:v>包容</c:v>
                </c:pt>
                <c:pt idx="3">
                  <c:v>演出</c:v>
                </c:pt>
                <c:pt idx="4">
                  <c:v>效率</c:v>
                </c:pt>
              </c:strCache>
            </c:strRef>
          </c:cat>
          <c:val>
            <c:numRef>
              <c:f>'Chart Data'!$D$2:$D$6</c:f>
              <c:numCache>
                <c:formatCode>General</c:formatCode>
                <c:ptCount val="5"/>
                <c:pt idx="0">
                  <c:v>20</c:v>
                </c:pt>
                <c:pt idx="1">
                  <c:v>30</c:v>
                </c:pt>
                <c:pt idx="2">
                  <c:v>15</c:v>
                </c:pt>
                <c:pt idx="3">
                  <c:v>25</c:v>
                </c:pt>
                <c:pt idx="4">
                  <c:v>30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650" b="1">
                  <a:solidFill>
                    <a:srgbClr val="175540"/>
                  </a:solidFill>
                  <a:latin typeface="Microsoft YaHei"/>
                  <a:ea typeface="Microsoft YaHei"/>
                  <a:cs typeface="Microsoft YaHe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175540"/>
                </a:solidFill>
                <a:latin typeface="Microsoft YaHei"/>
                <a:ea typeface="Microsoft YaHei"/>
                <a:cs typeface="Microsoft YaHei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175540"/>
                </a:solidFill>
                <a:latin typeface="Microsoft YaHei"/>
                <a:ea typeface="Microsoft YaHei"/>
                <a:cs typeface="Microsoft YaHei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FFCF4"/>
        </a:solidFill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650">
              <a:solidFill>
                <a:srgbClr val="175540"/>
              </a:solidFill>
              <a:latin typeface="Microsoft YaHei"/>
              <a:ea typeface="Microsoft YaHei"/>
              <a:cs typeface="Microsoft YaHei"/>
            </a:defRPr>
          </a:pPr>
        </a:p>
      </c:txPr>
    </c:legend>
    <c:plotVisOnly val="1"/>
  </c:chart>
  <c:spPr>
    <a:solidFill xmlns:a="http://schemas.openxmlformats.org/drawingml/2006/main">
      <a:srgbClr val="FFFCF4"/>
    </a:solidFill>
  </c:spPr>
  <c:externalData r:id="rIdChartSnapshot1">
    <c:autoUpdate val="0"/>
  </c:externalData>
</c:chartSpace>
</file>

<file path=ppt/slides/charts/chart3.xml><?xml version="1.0" encoding="utf-8"?>
<c:chartSpace xmlns:c="http://schemas.openxmlformats.org/drawingml/2006/chart" xmlns:r="http://schemas.openxmlformats.org/officeDocument/2006/relationships">
  <c:lang val="en-US"/>
  <c:chart>
    <c:plotArea>
      <c:lineChart>
        <c:grouping val="standard"/>
        <c:ser>
          <c:idx val="0"/>
          <c:order val="0"/>
          <c:tx>
            <c:v>认可率（%）</c:v>
          </c:tx>
          <c:spPr>
            <a:solidFill xmlns:a="http://schemas.openxmlformats.org/drawingml/2006/main">
              <a:srgbClr val="175540"/>
            </a:solidFill>
            <a:ln xmlns:a="http://schemas.openxmlformats.org/drawingml/2006/main" w="28575">
              <a:solidFill>
                <a:srgbClr val="175540"/>
              </a:solidFill>
            </a:ln>
          </c:spPr>
          <c:marker>
            <c:symbol val="circle"/>
            <c:size val="8"/>
            <c:spPr>
              <a:solidFill xmlns:a="http://schemas.openxmlformats.org/drawingml/2006/main">
                <a:srgbClr val="175540"/>
              </a:solidFill>
            </c:spPr>
          </c:marker>
          <c:cat>
            <c:strRef>
              <c:f>'Chart Data'!$A$2:$A$5</c:f>
              <c:strCache>
                <c:ptCount val="4"/>
                <c:pt idx="0">
                  <c:v>06月</c:v>
                </c:pt>
                <c:pt idx="1">
                  <c:v>07月</c:v>
                </c:pt>
                <c:pt idx="2">
                  <c:v>08月</c:v>
                </c:pt>
                <c:pt idx="3">
                  <c:v>09月</c:v>
                </c:pt>
              </c:strCache>
            </c:strRef>
          </c:cat>
          <c:val>
            <c:numRef>
              <c:f>'Chart Data'!$B$2:$B$5</c:f>
              <c:numCache>
                <c:formatCode>General</c:formatCode>
                <c:ptCount val="4"/>
                <c:pt idx="0">
                  <c:v>250</c:v>
                </c:pt>
                <c:pt idx="1">
                  <c:v>275</c:v>
                </c:pt>
                <c:pt idx="2">
                  <c:v>288</c:v>
                </c:pt>
                <c:pt idx="3">
                  <c:v>300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650" b="1">
                  <a:solidFill>
                    <a:srgbClr val="175540"/>
                  </a:solidFill>
                  <a:latin typeface="Microsoft YaHei"/>
                  <a:ea typeface="Microsoft YaHei"/>
                  <a:cs typeface="Microsoft Ya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175540"/>
                </a:solidFill>
                <a:latin typeface="Microsoft YaHei"/>
                <a:ea typeface="Microsoft YaHei"/>
                <a:cs typeface="Microsoft YaHei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175540"/>
                </a:solidFill>
                <a:latin typeface="Microsoft YaHei"/>
                <a:ea typeface="Microsoft YaHei"/>
                <a:cs typeface="Microsoft YaHei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FFCF4"/>
        </a:solidFill>
      </c:spPr>
    </c:plotArea>
    <c:plotVisOnly val="1"/>
  </c:chart>
  <c:spPr>
    <a:solidFill xmlns:a="http://schemas.openxmlformats.org/drawingml/2006/main">
      <a:srgbClr val="FFFCF4"/>
    </a:solidFill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C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7438f87b35143b3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8DEE19-A8AD-4D20-8701-89693FD08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476375"/>
            <a:ext cx="714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5550" b="1">
                <a:solidFill>
                  <a:srgbClr val="1755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5550" b="1">
                <a:solidFill>
                  <a:srgbClr val="175540"/>
                </a:solidFill>
                <a:latin typeface="Microsoft YaHei"/>
                <a:ea typeface="Microsoft YaHei"/>
                <a:cs typeface="Microsoft YaHei"/>
              </a:rPr>
              <a:t>HR 月报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C57FDB0-1DA6-4752-8A40-9BF2EC5C6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28900"/>
            <a:ext cx="685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1755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0">
                <a:solidFill>
                  <a:srgbClr val="175540"/>
                </a:solidFill>
                <a:latin typeface="Microsoft YaHei"/>
                <a:ea typeface="Microsoft YaHei"/>
                <a:cs typeface="Microsoft YaHei"/>
              </a:rPr>
              <a:t>Forest &amp; Zootopia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286024-BD9B-4380-B1BF-E8E9910C6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71850"/>
            <a:ext cx="6096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755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>
                <a:solidFill>
                  <a:srgbClr val="175540"/>
                </a:solidFill>
                <a:latin typeface="Microsoft YaHei"/>
                <a:ea typeface="Microsoft YaHei"/>
                <a:cs typeface="Microsoft YaHei"/>
              </a:rPr>
              <a:t>2026年09月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E6053A2-B3F1-4198-B4FE-B8EA744D0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19550"/>
            <a:ext cx="6381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755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175540"/>
                </a:solidFill>
                <a:latin typeface="Microsoft YaHei"/>
                <a:ea typeface="Microsoft YaHei"/>
                <a:cs typeface="Microsoft YaHei"/>
              </a:rPr>
              <a:t>报告范围：全部授权景点圈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920A5EB-39E7-4772-93CC-F22EC548D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904875"/>
            <a:ext cx="628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75654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756545"/>
                </a:solidFill>
                <a:latin typeface="Microsoft YaHei"/>
                <a:ea typeface="Microsoft YaHei"/>
                <a:cs typeface="Microsoft YaHei"/>
              </a:rPr>
              <a:t>温暖团队 / 示例数据</a:t>
            </a:r>
          </a:p>
        </p:txBody>
      </p:sp>
    </p:spTree>
    <p:extLst>
      <p:ext uri="{BB962C8B-B14F-4D97-AF65-F5344CB8AC3E}">
        <p14:creationId xmlns:p14="http://schemas.microsoft.com/office/powerpoint/2010/main" val="70721615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C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135C98B-2FAD-4AC5-B8F4-FB71A73EC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775B2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775B24"/>
                </a:solidFill>
                <a:latin typeface="Microsoft YaHei"/>
                <a:ea typeface="Microsoft YaHei"/>
                <a:cs typeface="Microsoft YaHei"/>
              </a:rPr>
              <a:t>月度概览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F0A1974-7ED0-4006-9BEC-7AA2431E7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38225"/>
            <a:ext cx="1066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75654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756545"/>
                </a:solidFill>
                <a:latin typeface="Microsoft YaHei"/>
                <a:ea typeface="Microsoft YaHei"/>
                <a:cs typeface="Microsoft YaHei"/>
              </a:rPr>
              <a:t>2026年09月  草稿示例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5C2142D-5536-47BF-B49A-26A96CABF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53175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75654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756545"/>
                </a:solidFill>
                <a:latin typeface="Microsoft YaHei"/>
                <a:ea typeface="Microsoft YaHei"/>
                <a:cs typeface="Microsoft YaHei"/>
              </a:rPr>
              <a:t>示例数据 / 非正式报告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8C0ECB-2824-4E29-9B71-88C826FE0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53175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75654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756545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BD970CE-0AB0-41E2-9C5A-540317096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333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755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175540"/>
                </a:solidFill>
                <a:latin typeface="Microsoft YaHei"/>
                <a:ea typeface="Microsoft YaHei"/>
                <a:cs typeface="Microsoft YaHei"/>
              </a:rPr>
              <a:t>统计人数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A0D062F-7B61-474D-BF65-B96668751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4125"/>
            <a:ext cx="3333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200" b="1">
                <a:solidFill>
                  <a:srgbClr val="1755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200" b="1">
                <a:solidFill>
                  <a:srgbClr val="175540"/>
                </a:solidFill>
                <a:latin typeface="Microsoft YaHei"/>
                <a:ea typeface="Microsoft YaHei"/>
                <a:cs typeface="Microsoft YaHei"/>
              </a:rPr>
              <a:t>320 人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8F35341-3D2F-438F-986A-97D5547C6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1952625"/>
            <a:ext cx="333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755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175540"/>
                </a:solidFill>
                <a:latin typeface="Microsoft YaHei"/>
                <a:ea typeface="Microsoft YaHei"/>
                <a:cs typeface="Microsoft YaHei"/>
              </a:rPr>
              <a:t>认可登记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A021902-F06C-4431-817E-4542CF6C0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524125"/>
            <a:ext cx="3333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200" b="1">
                <a:solidFill>
                  <a:srgbClr val="1755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200" b="1">
                <a:solidFill>
                  <a:srgbClr val="175540"/>
                </a:solidFill>
                <a:latin typeface="Microsoft YaHei"/>
                <a:ea typeface="Microsoft YaHei"/>
                <a:cs typeface="Microsoft YaHei"/>
              </a:rPr>
              <a:t>960 条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B096822-5924-417D-A606-5826DA9ED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952625"/>
            <a:ext cx="333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755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175540"/>
                </a:solidFill>
                <a:latin typeface="Microsoft YaHei"/>
                <a:ea typeface="Microsoft YaHei"/>
                <a:cs typeface="Microsoft YaHei"/>
              </a:rPr>
              <a:t>处分登记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84972E6-3F7F-417B-98C9-A32A476E6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524125"/>
            <a:ext cx="3333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200" b="1">
                <a:solidFill>
                  <a:srgbClr val="1755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200" b="1">
                <a:solidFill>
                  <a:srgbClr val="175540"/>
                </a:solidFill>
                <a:latin typeface="Microsoft YaHei"/>
                <a:ea typeface="Microsoft YaHei"/>
                <a:cs typeface="Microsoft YaHei"/>
              </a:rPr>
              <a:t>24 条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D3EFF1D-3A99-4FA3-A89D-9D7A1622A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10025"/>
            <a:ext cx="7143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625" b="1">
                <a:solidFill>
                  <a:srgbClr val="1755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625" b="1">
                <a:solidFill>
                  <a:srgbClr val="175540"/>
                </a:solidFill>
                <a:latin typeface="Microsoft YaHei"/>
                <a:ea typeface="Microsoft YaHei"/>
                <a:cs typeface="Microsoft YaHei"/>
              </a:rPr>
              <a:t>认可率 300%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29E6FE1-3CE0-4027-A052-E2CB2B8F6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86300"/>
            <a:ext cx="10858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1755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175540"/>
                </a:solidFill>
                <a:latin typeface="Microsoft YaHei"/>
                <a:ea typeface="Microsoft YaHei"/>
                <a:cs typeface="Microsoft YaHei"/>
              </a:rPr>
              <a:t>认可率 = 认可数量 ÷ 统计人数 × 100%，可以超过100%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1BFC99A-3DDD-4ACB-A180-A069160B9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19725"/>
            <a:ext cx="10858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75654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756545"/>
                </a:solidFill>
                <a:latin typeface="Microsoft YaHei"/>
                <a:ea typeface="Microsoft YaHei"/>
                <a:cs typeface="Microsoft YaHei"/>
              </a:rPr>
              <a:t>月结前标注草稿。LOA涉及月份保留记录，但不参与计分和排名。</a:t>
            </a:r>
          </a:p>
        </p:txBody>
      </p:sp>
    </p:spTree>
    <p:extLst>
      <p:ext uri="{BB962C8B-B14F-4D97-AF65-F5344CB8AC3E}">
        <p14:creationId xmlns:p14="http://schemas.microsoft.com/office/powerpoint/2010/main" val="134753312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C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ED7E49B-BDEA-4538-B75F-02BF6093A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775B2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775B24"/>
                </a:solidFill>
                <a:latin typeface="Microsoft YaHei"/>
                <a:ea typeface="Microsoft YaHei"/>
                <a:cs typeface="Microsoft YaHei"/>
              </a:rPr>
              <a:t>减分分类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965C4D7-6A2B-4093-9793-5DE210461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38225"/>
            <a:ext cx="1066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75654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756545"/>
                </a:solidFill>
                <a:latin typeface="Microsoft YaHei"/>
                <a:ea typeface="Microsoft YaHei"/>
                <a:cs typeface="Microsoft YaHei"/>
              </a:rPr>
              <a:t>按事件记录次数分类  单位：条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DEF2811-0917-419C-B476-72C1845EE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53175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75654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756545"/>
                </a:solidFill>
                <a:latin typeface="Microsoft YaHei"/>
                <a:ea typeface="Microsoft YaHei"/>
                <a:cs typeface="Microsoft YaHei"/>
              </a:rPr>
              <a:t>示例数据 / 非正式报告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E375DE-D2A8-482A-8D3B-0D99A3756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53175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75654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756545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graphicFrame>
        <p:nvGraphicFramePr>
          <p:cNvPr id="11" name="Chart"/>
          <p:cNvGraphicFramePr/>
          <p:nvPr/>
        </p:nvGraphicFramePr>
        <p:xfrm>
          <a:off xmlns:a="http://schemas.openxmlformats.org/drawingml/2006/main" x="609600" y="1790700"/>
          <a:ext xmlns:a="http://schemas.openxmlformats.org/drawingml/2006/main" cx="10972800" cy="3714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fdf5823ec3d455d"/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C70768E-DD65-44BF-BAA3-BFFCAFA11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43575"/>
            <a:ext cx="1076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75654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756545"/>
                </a:solidFill>
                <a:latin typeface="Microsoft YaHei"/>
                <a:ea typeface="Microsoft YaHei"/>
                <a:cs typeface="Microsoft YaHei"/>
              </a:rPr>
              <a:t>本页展示次数，实际扣分以系统月度计分结果为准。</a:t>
            </a:r>
          </a:p>
        </p:txBody>
      </p:sp>
    </p:spTree>
    <p:extLst>
      <p:ext uri="{BB962C8B-B14F-4D97-AF65-F5344CB8AC3E}">
        <p14:creationId xmlns:p14="http://schemas.microsoft.com/office/powerpoint/2010/main" val="180634243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C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668FE05-4ED9-4E61-A6F1-D8973C1C6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775B2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775B24"/>
                </a:solidFill>
                <a:latin typeface="Microsoft YaHei"/>
                <a:ea typeface="Microsoft YaHei"/>
                <a:cs typeface="Microsoft YaHei"/>
              </a:rPr>
              <a:t>减分分类：景点圈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05427AF-CC61-49EA-AB4A-0BFCAA0D5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38225"/>
            <a:ext cx="1066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75654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756545"/>
                </a:solidFill>
                <a:latin typeface="Microsoft YaHei"/>
                <a:ea typeface="Microsoft YaHei"/>
                <a:cs typeface="Microsoft YaHei"/>
              </a:rPr>
              <a:t>景点归属使用事件快照  示例数据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0543AAE-F0F7-433E-9EBD-E6BA21D68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53175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75654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756545"/>
                </a:solidFill>
                <a:latin typeface="Microsoft YaHei"/>
                <a:ea typeface="Microsoft YaHei"/>
                <a:cs typeface="Microsoft YaHei"/>
              </a:rPr>
              <a:t>示例数据 / 非正式报告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E79F822-6FE2-4317-99E6-90CBA82B4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53175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75654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756545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graphicFrame>
        <p:nvGraphicFramePr>
          <p:cNvPr id="10" name=""/>
          <p:cNvGraphicFramePr/>
          <p:nvPr/>
        </p:nvGraphicFramePr>
        <p:xfrm>
          <a:off xmlns:a="http://schemas.openxmlformats.org/drawingml/2006/main" x="609600" y="1714500"/>
          <a:ext xmlns:a="http://schemas.openxmlformats.org/drawingml/2006/main" cx="10972800" cy="2476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  <a:gridCol w="2743200"/>
              </a:tblGrid>
              <a:tr h="49530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景点圈</a:t>
                      </a:r>
                    </a:p>
                  </a:txBody>
                  <a:tcPr marL="91440" marR="91440" marT="45720" marB="45720">
                    <a:solidFill>
                      <a:srgbClr val="775B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CM / TR次数</a:t>
                      </a:r>
                    </a:p>
                  </a:txBody>
                  <a:tcPr marL="91440" marR="91440" marT="45720" marB="45720">
                    <a:solidFill>
                      <a:srgbClr val="775B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LEAD次数</a:t>
                      </a:r>
                    </a:p>
                  </a:txBody>
                  <a:tcPr marL="91440" marR="91440" marT="45720" marB="45720">
                    <a:solidFill>
                      <a:srgbClr val="775B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总次数</a:t>
                      </a:r>
                    </a:p>
                  </a:txBody>
                  <a:tcPr marL="91440" marR="91440" marT="45720" marB="45720">
                    <a:solidFill>
                      <a:srgbClr val="775B24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示例景点圈A</a:t>
                      </a:r>
                    </a:p>
                  </a:txBody>
                  <a:tcPr marL="91440" marR="91440" marT="45720" marB="45720">
                    <a:solidFill>
                      <a:srgbClr val="FFFC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</a:t>
                      </a:r>
                    </a:p>
                  </a:txBody>
                  <a:tcPr marL="91440" marR="91440" marT="45720" marB="45720">
                    <a:solidFill>
                      <a:srgbClr val="FFFC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</a:t>
                      </a:r>
                    </a:p>
                  </a:txBody>
                  <a:tcPr marL="91440" marR="91440" marT="45720" marB="45720">
                    <a:solidFill>
                      <a:srgbClr val="FFFC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</a:t>
                      </a:r>
                    </a:p>
                  </a:txBody>
                  <a:tcPr marL="91440" marR="91440" marT="45720" marB="45720">
                    <a:solidFill>
                      <a:srgbClr val="FFFCF4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示例景点圈B</a:t>
                      </a:r>
                    </a:p>
                  </a:txBody>
                  <a:tcPr marL="91440" marR="91440" marT="45720" marB="45720">
                    <a:solidFill>
                      <a:srgbClr val="F4EDD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</a:t>
                      </a:r>
                    </a:p>
                  </a:txBody>
                  <a:tcPr marL="91440" marR="91440" marT="45720" marB="45720">
                    <a:solidFill>
                      <a:srgbClr val="F4EDD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</a:t>
                      </a:r>
                    </a:p>
                  </a:txBody>
                  <a:tcPr marL="91440" marR="91440" marT="45720" marB="45720">
                    <a:solidFill>
                      <a:srgbClr val="F4EDD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</a:t>
                      </a:r>
                    </a:p>
                  </a:txBody>
                  <a:tcPr marL="91440" marR="91440" marT="45720" marB="45720">
                    <a:solidFill>
                      <a:srgbClr val="F4EDD8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示例景点圈C</a:t>
                      </a:r>
                    </a:p>
                  </a:txBody>
                  <a:tcPr marL="91440" marR="91440" marT="45720" marB="45720">
                    <a:solidFill>
                      <a:srgbClr val="FFFC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</a:t>
                      </a:r>
                    </a:p>
                  </a:txBody>
                  <a:tcPr marL="91440" marR="91440" marT="45720" marB="45720">
                    <a:solidFill>
                      <a:srgbClr val="FFFC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</a:t>
                      </a:r>
                    </a:p>
                  </a:txBody>
                  <a:tcPr marL="91440" marR="91440" marT="45720" marB="45720">
                    <a:solidFill>
                      <a:srgbClr val="FFFC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</a:t>
                      </a:r>
                    </a:p>
                  </a:txBody>
                  <a:tcPr marL="91440" marR="91440" marT="45720" marB="45720">
                    <a:solidFill>
                      <a:srgbClr val="FFFCF4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合计</a:t>
                      </a:r>
                    </a:p>
                  </a:txBody>
                  <a:tcPr marL="91440" marR="91440" marT="45720" marB="45720">
                    <a:solidFill>
                      <a:srgbClr val="F4EDD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16</a:t>
                      </a:r>
                    </a:p>
                  </a:txBody>
                  <a:tcPr marL="91440" marR="91440" marT="45720" marB="45720">
                    <a:solidFill>
                      <a:srgbClr val="F4EDD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</a:t>
                      </a:r>
                    </a:p>
                  </a:txBody>
                  <a:tcPr marL="91440" marR="91440" marT="45720" marB="45720">
                    <a:solidFill>
                      <a:srgbClr val="F4EDD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24</a:t>
                      </a:r>
                    </a:p>
                  </a:txBody>
                  <a:tcPr marL="91440" marR="91440" marT="45720" marB="45720">
                    <a:solidFill>
                      <a:srgbClr val="F4EDD8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7945441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C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D1675CC-26F8-4B61-A26F-32EFEA6E3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775B2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775B24"/>
                </a:solidFill>
                <a:latin typeface="Microsoft YaHei"/>
                <a:ea typeface="Microsoft YaHei"/>
                <a:cs typeface="Microsoft YaHei"/>
              </a:rPr>
              <a:t>加分分类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AF59A47-761B-44E3-90CE-95FF0F054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38225"/>
            <a:ext cx="1066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75654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756545"/>
                </a:solidFill>
                <a:latin typeface="Microsoft YaHei"/>
                <a:ea typeface="Microsoft YaHei"/>
                <a:cs typeface="Microsoft YaHei"/>
              </a:rPr>
              <a:t>按已通过认可记录次数分类  单位：条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C026BB1-B4BE-4D69-9CB4-BC4871B81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53175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75654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756545"/>
                </a:solidFill>
                <a:latin typeface="Microsoft YaHei"/>
                <a:ea typeface="Microsoft YaHei"/>
                <a:cs typeface="Microsoft YaHei"/>
              </a:rPr>
              <a:t>示例数据 / 非正式报告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1D40CE2-A45B-48AC-A29D-8F34F457B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53175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75654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756545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graphicFrame>
        <p:nvGraphicFramePr>
          <p:cNvPr id="11" name="Chart"/>
          <p:cNvGraphicFramePr/>
          <p:nvPr/>
        </p:nvGraphicFramePr>
        <p:xfrm>
          <a:off xmlns:a="http://schemas.openxmlformats.org/drawingml/2006/main" x="609600" y="1790700"/>
          <a:ext xmlns:a="http://schemas.openxmlformats.org/drawingml/2006/main" cx="10972800" cy="3714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4683a5223e14eb3"/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B299D60-F33B-4370-AE37-EA595F24D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43575"/>
            <a:ext cx="1076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75654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756545"/>
                </a:solidFill>
                <a:latin typeface="Microsoft YaHei"/>
                <a:ea typeface="Microsoft YaHei"/>
                <a:cs typeface="Microsoft YaHei"/>
              </a:rPr>
              <a:t>记录数量与实际计入分值分别统计，不混用。</a:t>
            </a:r>
          </a:p>
        </p:txBody>
      </p:sp>
    </p:spTree>
    <p:extLst>
      <p:ext uri="{BB962C8B-B14F-4D97-AF65-F5344CB8AC3E}">
        <p14:creationId xmlns:p14="http://schemas.microsoft.com/office/powerpoint/2010/main" val="108128382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C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824010D-1BCF-4A7D-AAA8-EF97A0E72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775B2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775B24"/>
                </a:solidFill>
                <a:latin typeface="Microsoft YaHei"/>
                <a:ea typeface="Microsoft YaHei"/>
                <a:cs typeface="Microsoft YaHei"/>
              </a:rPr>
              <a:t>加分分类：景点圈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9CC254A-A987-44EF-A05A-71F864E56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38225"/>
            <a:ext cx="1066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75654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756545"/>
                </a:solidFill>
                <a:latin typeface="Microsoft YaHei"/>
                <a:ea typeface="Microsoft YaHei"/>
                <a:cs typeface="Microsoft YaHei"/>
              </a:rPr>
              <a:t>按景点圈及人员类别汇总  单位：条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CA22697-7F61-4831-919B-FD3615B70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53175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75654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756545"/>
                </a:solidFill>
                <a:latin typeface="Microsoft YaHei"/>
                <a:ea typeface="Microsoft YaHei"/>
                <a:cs typeface="Microsoft YaHei"/>
              </a:rPr>
              <a:t>示例数据 / 非正式报告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51CFFD5-43ED-4F2F-BE13-D6C165D9C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53175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75654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756545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graphicFrame>
        <p:nvGraphicFramePr>
          <p:cNvPr id="10" name=""/>
          <p:cNvGraphicFramePr/>
          <p:nvPr/>
        </p:nvGraphicFramePr>
        <p:xfrm>
          <a:off xmlns:a="http://schemas.openxmlformats.org/drawingml/2006/main" x="609600" y="1714500"/>
          <a:ext xmlns:a="http://schemas.openxmlformats.org/drawingml/2006/main" cx="10972800" cy="2476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  <a:gridCol w="2743200"/>
              </a:tblGrid>
              <a:tr h="49530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景点圈</a:t>
                      </a:r>
                    </a:p>
                  </a:txBody>
                  <a:tcPr marL="91440" marR="91440" marT="45720" marB="45720">
                    <a:solidFill>
                      <a:srgbClr val="775B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CM / TR认可</a:t>
                      </a:r>
                    </a:p>
                  </a:txBody>
                  <a:tcPr marL="91440" marR="91440" marT="45720" marB="45720">
                    <a:solidFill>
                      <a:srgbClr val="775B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LEAD认可</a:t>
                      </a:r>
                    </a:p>
                  </a:txBody>
                  <a:tcPr marL="91440" marR="91440" marT="45720" marB="45720">
                    <a:solidFill>
                      <a:srgbClr val="775B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总记录数</a:t>
                      </a:r>
                    </a:p>
                  </a:txBody>
                  <a:tcPr marL="91440" marR="91440" marT="45720" marB="45720">
                    <a:solidFill>
                      <a:srgbClr val="775B24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示例景点圈A</a:t>
                      </a:r>
                    </a:p>
                  </a:txBody>
                  <a:tcPr marL="91440" marR="91440" marT="45720" marB="45720">
                    <a:solidFill>
                      <a:srgbClr val="FFFC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300</a:t>
                      </a:r>
                    </a:p>
                  </a:txBody>
                  <a:tcPr marL="91440" marR="91440" marT="45720" marB="45720">
                    <a:solidFill>
                      <a:srgbClr val="FFFC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40</a:t>
                      </a:r>
                    </a:p>
                  </a:txBody>
                  <a:tcPr marL="91440" marR="91440" marT="45720" marB="45720">
                    <a:solidFill>
                      <a:srgbClr val="FFFC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340</a:t>
                      </a:r>
                    </a:p>
                  </a:txBody>
                  <a:tcPr marL="91440" marR="91440" marT="45720" marB="45720">
                    <a:solidFill>
                      <a:srgbClr val="FFFCF4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示例景点圈B</a:t>
                      </a:r>
                    </a:p>
                  </a:txBody>
                  <a:tcPr marL="91440" marR="91440" marT="45720" marB="45720">
                    <a:solidFill>
                      <a:srgbClr val="F4EDD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280</a:t>
                      </a:r>
                    </a:p>
                  </a:txBody>
                  <a:tcPr marL="91440" marR="91440" marT="45720" marB="45720">
                    <a:solidFill>
                      <a:srgbClr val="F4EDD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35</a:t>
                      </a:r>
                    </a:p>
                  </a:txBody>
                  <a:tcPr marL="91440" marR="91440" marT="45720" marB="45720">
                    <a:solidFill>
                      <a:srgbClr val="F4EDD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315</a:t>
                      </a:r>
                    </a:p>
                  </a:txBody>
                  <a:tcPr marL="91440" marR="91440" marT="45720" marB="45720">
                    <a:solidFill>
                      <a:srgbClr val="F4EDD8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示例景点圈C</a:t>
                      </a:r>
                    </a:p>
                  </a:txBody>
                  <a:tcPr marL="91440" marR="91440" marT="45720" marB="45720">
                    <a:solidFill>
                      <a:srgbClr val="FFFC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260</a:t>
                      </a:r>
                    </a:p>
                  </a:txBody>
                  <a:tcPr marL="91440" marR="91440" marT="45720" marB="45720">
                    <a:solidFill>
                      <a:srgbClr val="FFFC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45</a:t>
                      </a:r>
                    </a:p>
                  </a:txBody>
                  <a:tcPr marL="91440" marR="91440" marT="45720" marB="45720">
                    <a:solidFill>
                      <a:srgbClr val="FFFC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305</a:t>
                      </a:r>
                    </a:p>
                  </a:txBody>
                  <a:tcPr marL="91440" marR="91440" marT="45720" marB="45720">
                    <a:solidFill>
                      <a:srgbClr val="FFFCF4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合计</a:t>
                      </a:r>
                    </a:p>
                  </a:txBody>
                  <a:tcPr marL="91440" marR="91440" marT="45720" marB="45720">
                    <a:solidFill>
                      <a:srgbClr val="F4EDD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840</a:t>
                      </a:r>
                    </a:p>
                  </a:txBody>
                  <a:tcPr marL="91440" marR="91440" marT="45720" marB="45720">
                    <a:solidFill>
                      <a:srgbClr val="F4EDD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120</a:t>
                      </a:r>
                    </a:p>
                  </a:txBody>
                  <a:tcPr marL="91440" marR="91440" marT="45720" marB="45720">
                    <a:solidFill>
                      <a:srgbClr val="F4EDD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960</a:t>
                      </a:r>
                    </a:p>
                  </a:txBody>
                  <a:tcPr marL="91440" marR="91440" marT="45720" marB="45720">
                    <a:solidFill>
                      <a:srgbClr val="F4EDD8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5803761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C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B3AF928-7B07-4CDD-A5F9-A30DA853D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775B2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775B24"/>
                </a:solidFill>
                <a:latin typeface="Microsoft YaHei"/>
                <a:ea typeface="Microsoft YaHei"/>
                <a:cs typeface="Microsoft YaHei"/>
              </a:rPr>
              <a:t>认可发放排名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AEAA8E2-B0FA-40A9-91E4-60534D82A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38225"/>
            <a:ext cx="1066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75654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756545"/>
                </a:solidFill>
                <a:latin typeface="Microsoft YaHei"/>
                <a:ea typeface="Microsoft YaHei"/>
                <a:cs typeface="Microsoft YaHei"/>
              </a:rPr>
              <a:t>按签卡人发放数量排序  单位：条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F0CC64D-FAA3-4BC8-AECB-0D44D7F0C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53175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75654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756545"/>
                </a:solidFill>
                <a:latin typeface="Microsoft YaHei"/>
                <a:ea typeface="Microsoft YaHei"/>
                <a:cs typeface="Microsoft YaHei"/>
              </a:rPr>
              <a:t>示例数据 / 非正式报告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5C205C6-093D-4143-9CED-306837C12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53175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75654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756545"/>
                </a:solidFill>
                <a:latin typeface="Microsoft YaHei"/>
                <a:ea typeface="Microsoft YaHei"/>
                <a:cs typeface="Microsoft YaHei"/>
              </a:rPr>
              <a:t>07</a:t>
            </a:r>
          </a:p>
        </p:txBody>
      </p:sp>
      <p:graphicFrame>
        <p:nvGraphicFramePr>
          <p:cNvPr id="11" name=""/>
          <p:cNvGraphicFramePr/>
          <p:nvPr/>
        </p:nvGraphicFramePr>
        <p:xfrm>
          <a:off xmlns:a="http://schemas.openxmlformats.org/drawingml/2006/main" x="609600" y="1714500"/>
          <a:ext xmlns:a="http://schemas.openxmlformats.org/drawingml/2006/main" cx="10972800" cy="34671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  <a:gridCol w="2743200"/>
              </a:tblGrid>
              <a:tr h="49530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排名</a:t>
                      </a:r>
                    </a:p>
                  </a:txBody>
                  <a:tcPr marL="91440" marR="91440" marT="45720" marB="45720">
                    <a:solidFill>
                      <a:srgbClr val="775B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登记人 / 签卡人</a:t>
                      </a:r>
                    </a:p>
                  </a:txBody>
                  <a:tcPr marL="91440" marR="91440" marT="45720" marB="45720">
                    <a:solidFill>
                      <a:srgbClr val="775B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景点圈</a:t>
                      </a:r>
                    </a:p>
                  </a:txBody>
                  <a:tcPr marL="91440" marR="91440" marT="45720" marB="45720">
                    <a:solidFill>
                      <a:srgbClr val="775B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发放数量</a:t>
                      </a:r>
                    </a:p>
                  </a:txBody>
                  <a:tcPr marL="91440" marR="91440" marT="45720" marB="45720">
                    <a:solidFill>
                      <a:srgbClr val="775B24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</a:t>
                      </a:r>
                    </a:p>
                  </a:txBody>
                  <a:tcPr marL="91440" marR="91440" marT="45720" marB="45720">
                    <a:solidFill>
                      <a:srgbClr val="FFFC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示例登记人01</a:t>
                      </a:r>
                    </a:p>
                  </a:txBody>
                  <a:tcPr marL="91440" marR="91440" marT="45720" marB="45720">
                    <a:solidFill>
                      <a:srgbClr val="FFFC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示例景点圈A</a:t>
                      </a:r>
                    </a:p>
                  </a:txBody>
                  <a:tcPr marL="91440" marR="91440" marT="45720" marB="45720">
                    <a:solidFill>
                      <a:srgbClr val="FFFC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80</a:t>
                      </a:r>
                    </a:p>
                  </a:txBody>
                  <a:tcPr marL="91440" marR="91440" marT="45720" marB="45720">
                    <a:solidFill>
                      <a:srgbClr val="FFFCF4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</a:t>
                      </a:r>
                    </a:p>
                  </a:txBody>
                  <a:tcPr marL="91440" marR="91440" marT="45720" marB="45720">
                    <a:solidFill>
                      <a:srgbClr val="F4EDD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示例登记人02</a:t>
                      </a:r>
                    </a:p>
                  </a:txBody>
                  <a:tcPr marL="91440" marR="91440" marT="45720" marB="45720">
                    <a:solidFill>
                      <a:srgbClr val="F4EDD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示例景点圈B</a:t>
                      </a:r>
                    </a:p>
                  </a:txBody>
                  <a:tcPr marL="91440" marR="91440" marT="45720" marB="45720">
                    <a:solidFill>
                      <a:srgbClr val="F4EDD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73</a:t>
                      </a:r>
                    </a:p>
                  </a:txBody>
                  <a:tcPr marL="91440" marR="91440" marT="45720" marB="45720">
                    <a:solidFill>
                      <a:srgbClr val="F4EDD8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</a:t>
                      </a:r>
                    </a:p>
                  </a:txBody>
                  <a:tcPr marL="91440" marR="91440" marT="45720" marB="45720">
                    <a:solidFill>
                      <a:srgbClr val="FFFC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示例登记人03</a:t>
                      </a:r>
                    </a:p>
                  </a:txBody>
                  <a:tcPr marL="91440" marR="91440" marT="45720" marB="45720">
                    <a:solidFill>
                      <a:srgbClr val="FFFC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示例景点圈C</a:t>
                      </a:r>
                    </a:p>
                  </a:txBody>
                  <a:tcPr marL="91440" marR="91440" marT="45720" marB="45720">
                    <a:solidFill>
                      <a:srgbClr val="FFFC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66</a:t>
                      </a:r>
                    </a:p>
                  </a:txBody>
                  <a:tcPr marL="91440" marR="91440" marT="45720" marB="45720">
                    <a:solidFill>
                      <a:srgbClr val="FFFCF4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</a:t>
                      </a:r>
                    </a:p>
                  </a:txBody>
                  <a:tcPr marL="91440" marR="91440" marT="45720" marB="45720">
                    <a:solidFill>
                      <a:srgbClr val="F4EDD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示例登记人04</a:t>
                      </a:r>
                    </a:p>
                  </a:txBody>
                  <a:tcPr marL="91440" marR="91440" marT="45720" marB="45720">
                    <a:solidFill>
                      <a:srgbClr val="F4EDD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示例景点圈A</a:t>
                      </a:r>
                    </a:p>
                  </a:txBody>
                  <a:tcPr marL="91440" marR="91440" marT="45720" marB="45720">
                    <a:solidFill>
                      <a:srgbClr val="F4EDD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59</a:t>
                      </a:r>
                    </a:p>
                  </a:txBody>
                  <a:tcPr marL="91440" marR="91440" marT="45720" marB="45720">
                    <a:solidFill>
                      <a:srgbClr val="F4EDD8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</a:t>
                      </a:r>
                    </a:p>
                  </a:txBody>
                  <a:tcPr marL="91440" marR="91440" marT="45720" marB="45720">
                    <a:solidFill>
                      <a:srgbClr val="FFFC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示例登记人05</a:t>
                      </a:r>
                    </a:p>
                  </a:txBody>
                  <a:tcPr marL="91440" marR="91440" marT="45720" marB="45720">
                    <a:solidFill>
                      <a:srgbClr val="FFFC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示例景点圈B</a:t>
                      </a:r>
                    </a:p>
                  </a:txBody>
                  <a:tcPr marL="91440" marR="91440" marT="45720" marB="45720">
                    <a:solidFill>
                      <a:srgbClr val="FFFC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52</a:t>
                      </a:r>
                    </a:p>
                  </a:txBody>
                  <a:tcPr marL="91440" marR="91440" marT="45720" marB="45720">
                    <a:solidFill>
                      <a:srgbClr val="FFFCF4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</a:t>
                      </a:r>
                    </a:p>
                  </a:txBody>
                  <a:tcPr marL="91440" marR="91440" marT="45720" marB="45720">
                    <a:solidFill>
                      <a:srgbClr val="F4EDD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示例登记人06</a:t>
                      </a:r>
                    </a:p>
                  </a:txBody>
                  <a:tcPr marL="91440" marR="91440" marT="45720" marB="45720">
                    <a:solidFill>
                      <a:srgbClr val="F4EDD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示例景点圈C</a:t>
                      </a:r>
                    </a:p>
                  </a:txBody>
                  <a:tcPr marL="91440" marR="91440" marT="45720" marB="45720">
                    <a:solidFill>
                      <a:srgbClr val="F4EDD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45</a:t>
                      </a:r>
                    </a:p>
                  </a:txBody>
                  <a:tcPr marL="91440" marR="91440" marT="45720" marB="45720">
                    <a:solidFill>
                      <a:srgbClr val="F4EDD8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0EC66F7-7F8E-4F89-9E22-62CF5CA2A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10250"/>
            <a:ext cx="1076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75654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756545"/>
                </a:solidFill>
                <a:latin typeface="Microsoft YaHei"/>
                <a:ea typeface="Microsoft YaHei"/>
                <a:cs typeface="Microsoft YaHei"/>
              </a:rPr>
              <a:t>签卡人与代录操作人分开统计，避免重复累计。</a:t>
            </a:r>
          </a:p>
        </p:txBody>
      </p:sp>
    </p:spTree>
    <p:extLst>
      <p:ext uri="{BB962C8B-B14F-4D97-AF65-F5344CB8AC3E}">
        <p14:creationId xmlns:p14="http://schemas.microsoft.com/office/powerpoint/2010/main" val="96466476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C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E09475F-F648-43AA-9C4D-B2A814AC5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775B2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775B24"/>
                </a:solidFill>
                <a:latin typeface="Microsoft YaHei"/>
                <a:ea typeface="Microsoft YaHei"/>
                <a:cs typeface="Microsoft YaHei"/>
              </a:rPr>
              <a:t>认可统计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0C0F99D-0275-4BD2-9FB6-5DDA8986F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38225"/>
            <a:ext cx="1066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75654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756545"/>
                </a:solidFill>
                <a:latin typeface="Microsoft YaHei"/>
                <a:ea typeface="Microsoft YaHei"/>
                <a:cs typeface="Microsoft YaHei"/>
              </a:rPr>
              <a:t>认可率与员工覆盖率采用不同口径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1B379D5-B4B1-4235-BB17-1E2046834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53175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75654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756545"/>
                </a:solidFill>
                <a:latin typeface="Microsoft YaHei"/>
                <a:ea typeface="Microsoft YaHei"/>
                <a:cs typeface="Microsoft YaHei"/>
              </a:rPr>
              <a:t>示例数据 / 非正式报告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5C11B9F-CA6E-4135-9055-ACE6B9D3C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53175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75654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756545"/>
                </a:solidFill>
                <a:latin typeface="Microsoft YaHei"/>
                <a:ea typeface="Microsoft YaHei"/>
                <a:cs typeface="Microsoft YaHei"/>
              </a:rPr>
              <a:t>08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09600" y="1714500"/>
          <a:ext xmlns:a="http://schemas.openxmlformats.org/drawingml/2006/main" cx="10972800" cy="2476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  <a:gridCol w="2743200"/>
              </a:tblGrid>
              <a:tr h="49530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景点圈</a:t>
                      </a:r>
                    </a:p>
                  </a:txBody>
                  <a:tcPr marL="91440" marR="91440" marT="45720" marB="45720">
                    <a:solidFill>
                      <a:srgbClr val="775B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认可数量</a:t>
                      </a:r>
                    </a:p>
                  </a:txBody>
                  <a:tcPr marL="91440" marR="91440" marT="45720" marB="45720">
                    <a:solidFill>
                      <a:srgbClr val="775B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统计人数</a:t>
                      </a:r>
                    </a:p>
                  </a:txBody>
                  <a:tcPr marL="91440" marR="91440" marT="45720" marB="45720">
                    <a:solidFill>
                      <a:srgbClr val="775B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认可率</a:t>
                      </a:r>
                    </a:p>
                  </a:txBody>
                  <a:tcPr marL="91440" marR="91440" marT="45720" marB="45720">
                    <a:solidFill>
                      <a:srgbClr val="775B24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示例景点圈A</a:t>
                      </a:r>
                    </a:p>
                  </a:txBody>
                  <a:tcPr marL="91440" marR="91440" marT="45720" marB="45720">
                    <a:solidFill>
                      <a:srgbClr val="FFFC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340</a:t>
                      </a:r>
                    </a:p>
                  </a:txBody>
                  <a:tcPr marL="91440" marR="91440" marT="45720" marB="45720">
                    <a:solidFill>
                      <a:srgbClr val="FFFC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100</a:t>
                      </a:r>
                    </a:p>
                  </a:txBody>
                  <a:tcPr marL="91440" marR="91440" marT="45720" marB="45720">
                    <a:solidFill>
                      <a:srgbClr val="FFFC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340%</a:t>
                      </a:r>
                    </a:p>
                  </a:txBody>
                  <a:tcPr marL="91440" marR="91440" marT="45720" marB="45720">
                    <a:solidFill>
                      <a:srgbClr val="FFFCF4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示例景点圈B</a:t>
                      </a:r>
                    </a:p>
                  </a:txBody>
                  <a:tcPr marL="91440" marR="91440" marT="45720" marB="45720">
                    <a:solidFill>
                      <a:srgbClr val="F4EDD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315</a:t>
                      </a:r>
                    </a:p>
                  </a:txBody>
                  <a:tcPr marL="91440" marR="91440" marT="45720" marB="45720">
                    <a:solidFill>
                      <a:srgbClr val="F4EDD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105</a:t>
                      </a:r>
                    </a:p>
                  </a:txBody>
                  <a:tcPr marL="91440" marR="91440" marT="45720" marB="45720">
                    <a:solidFill>
                      <a:srgbClr val="F4EDD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300%</a:t>
                      </a:r>
                    </a:p>
                  </a:txBody>
                  <a:tcPr marL="91440" marR="91440" marT="45720" marB="45720">
                    <a:solidFill>
                      <a:srgbClr val="F4EDD8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示例景点圈C</a:t>
                      </a:r>
                    </a:p>
                  </a:txBody>
                  <a:tcPr marL="91440" marR="91440" marT="45720" marB="45720">
                    <a:solidFill>
                      <a:srgbClr val="FFFC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305</a:t>
                      </a:r>
                    </a:p>
                  </a:txBody>
                  <a:tcPr marL="91440" marR="91440" marT="45720" marB="45720">
                    <a:solidFill>
                      <a:srgbClr val="FFFC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115</a:t>
                      </a:r>
                    </a:p>
                  </a:txBody>
                  <a:tcPr marL="91440" marR="91440" marT="45720" marB="45720">
                    <a:solidFill>
                      <a:srgbClr val="FFFC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265.22%</a:t>
                      </a:r>
                    </a:p>
                  </a:txBody>
                  <a:tcPr marL="91440" marR="91440" marT="45720" marB="45720">
                    <a:solidFill>
                      <a:srgbClr val="FFFCF4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合计</a:t>
                      </a:r>
                    </a:p>
                  </a:txBody>
                  <a:tcPr marL="91440" marR="91440" marT="45720" marB="45720">
                    <a:solidFill>
                      <a:srgbClr val="F4EDD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960</a:t>
                      </a:r>
                    </a:p>
                  </a:txBody>
                  <a:tcPr marL="91440" marR="91440" marT="45720" marB="45720">
                    <a:solidFill>
                      <a:srgbClr val="F4EDD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320</a:t>
                      </a:r>
                    </a:p>
                  </a:txBody>
                  <a:tcPr marL="91440" marR="91440" marT="45720" marB="45720">
                    <a:solidFill>
                      <a:srgbClr val="F4EDD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300%</a:t>
                      </a:r>
                    </a:p>
                  </a:txBody>
                  <a:tcPr marL="91440" marR="91440" marT="45720" marB="45720">
                    <a:solidFill>
                      <a:srgbClr val="F4EDD8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72A5DB6-094C-4FEE-B68B-DE1CB79F0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76800"/>
            <a:ext cx="10668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1755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75540"/>
                </a:solidFill>
                <a:latin typeface="Microsoft YaHei"/>
                <a:ea typeface="Microsoft YaHei"/>
                <a:cs typeface="Microsoft YaHei"/>
              </a:rPr>
              <a:t>认可率 = 认可数量 ÷ 统计人数 × 100%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B13149C-629F-4C21-8BD2-2F6A9A695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763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75654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756545"/>
                </a:solidFill>
                <a:latin typeface="Microsoft YaHei"/>
                <a:ea typeface="Microsoft YaHei"/>
                <a:cs typeface="Microsoft YaHei"/>
              </a:rPr>
              <a:t>统计人数、LOA排除和历史归属以对应月份规则为准。</a:t>
            </a:r>
          </a:p>
        </p:txBody>
      </p:sp>
    </p:spTree>
    <p:extLst>
      <p:ext uri="{BB962C8B-B14F-4D97-AF65-F5344CB8AC3E}">
        <p14:creationId xmlns:p14="http://schemas.microsoft.com/office/powerpoint/2010/main" val="76488253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C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CF67672-85BF-43B2-8D9D-8C533542B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775B2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775B24"/>
                </a:solidFill>
                <a:latin typeface="Microsoft YaHei"/>
                <a:ea typeface="Microsoft YaHei"/>
                <a:cs typeface="Microsoft YaHei"/>
              </a:rPr>
              <a:t>认可率历史趋势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9629CF3-27AC-46E6-9372-7729AC1E7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38225"/>
            <a:ext cx="1066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75654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756545"/>
                </a:solidFill>
                <a:latin typeface="Microsoft YaHei"/>
                <a:ea typeface="Microsoft YaHei"/>
                <a:cs typeface="Microsoft YaHei"/>
              </a:rPr>
              <a:t>同一报告范围、同一人数口径  单位：%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3B0B1D4-A631-4B1B-B394-1751925CB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53175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75654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756545"/>
                </a:solidFill>
                <a:latin typeface="Microsoft YaHei"/>
                <a:ea typeface="Microsoft YaHei"/>
                <a:cs typeface="Microsoft YaHei"/>
              </a:rPr>
              <a:t>示例数据 / 非正式报告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1422CF0-4913-49DE-8BB7-80E956AEF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53175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75654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756545"/>
                </a:solidFill>
                <a:latin typeface="Microsoft YaHei"/>
                <a:ea typeface="Microsoft YaHei"/>
                <a:cs typeface="Microsoft YaHei"/>
              </a:rPr>
              <a:t>09</a:t>
            </a:r>
          </a:p>
        </p:txBody>
      </p:sp>
      <p:graphicFrame>
        <p:nvGraphicFramePr>
          <p:cNvPr id="11" name="Chart"/>
          <p:cNvGraphicFramePr/>
          <p:nvPr/>
        </p:nvGraphicFramePr>
        <p:xfrm>
          <a:off xmlns:a="http://schemas.openxmlformats.org/drawingml/2006/main" x="609600" y="1790700"/>
          <a:ext xmlns:a="http://schemas.openxmlformats.org/drawingml/2006/main" cx="10972800" cy="3714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1c53a02f0134451"/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B676DA1-8176-45B8-A31A-8562F068C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76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75654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756545"/>
                </a:solidFill>
                <a:latin typeface="Microsoft YaHei"/>
                <a:ea typeface="Microsoft YaHei"/>
                <a:cs typeface="Microsoft YaHei"/>
              </a:rPr>
              <a:t>无历史数据时显示“数据缺失”，不补造数值。</a:t>
            </a:r>
          </a:p>
        </p:txBody>
      </p:sp>
    </p:spTree>
    <p:extLst>
      <p:ext uri="{BB962C8B-B14F-4D97-AF65-F5344CB8AC3E}">
        <p14:creationId xmlns:p14="http://schemas.microsoft.com/office/powerpoint/2010/main" val="87426336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C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B401DAE-79A4-4E1B-AC74-DCC3BA8C0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775B2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775B24"/>
                </a:solidFill>
                <a:latin typeface="Microsoft YaHei"/>
                <a:ea typeface="Microsoft YaHei"/>
                <a:cs typeface="Microsoft YaHei"/>
              </a:rPr>
              <a:t>小组分排名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491D30D-2D62-4577-A348-45CACAC1C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38225"/>
            <a:ext cx="1066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75654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756545"/>
                </a:solidFill>
                <a:latin typeface="Microsoft YaHei"/>
                <a:ea typeface="Microsoft YaHei"/>
                <a:cs typeface="Microsoft YaHei"/>
              </a:rPr>
              <a:t>按系统计算的小组平均分降序排列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828AF6B-3AF8-4DAB-B855-70FFE40EF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53175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75654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756545"/>
                </a:solidFill>
                <a:latin typeface="Microsoft YaHei"/>
                <a:ea typeface="Microsoft YaHei"/>
                <a:cs typeface="Microsoft YaHei"/>
              </a:rPr>
              <a:t>示例数据 / 非正式报告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B12A440-73B1-4034-A26B-73E373E8E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53175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75654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756545"/>
                </a:solidFill>
                <a:latin typeface="Microsoft YaHei"/>
                <a:ea typeface="Microsoft YaHei"/>
                <a:cs typeface="Microsoft YaHei"/>
              </a:rPr>
              <a:t>10</a:t>
            </a:r>
          </a:p>
        </p:txBody>
      </p:sp>
      <p:graphicFrame>
        <p:nvGraphicFramePr>
          <p:cNvPr id="11" name=""/>
          <p:cNvGraphicFramePr/>
          <p:nvPr/>
        </p:nvGraphicFramePr>
        <p:xfrm>
          <a:off xmlns:a="http://schemas.openxmlformats.org/drawingml/2006/main" x="609600" y="1714500"/>
          <a:ext xmlns:a="http://schemas.openxmlformats.org/drawingml/2006/main" cx="10972800" cy="34671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194560"/>
                <a:gridCol w="2194560"/>
                <a:gridCol w="2194560"/>
                <a:gridCol w="2194560"/>
                <a:gridCol w="2194560"/>
              </a:tblGrid>
              <a:tr h="49530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排名</a:t>
                      </a:r>
                    </a:p>
                  </a:txBody>
                  <a:tcPr marL="91440" marR="91440" marT="45720" marB="45720">
                    <a:solidFill>
                      <a:srgbClr val="775B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小组</a:t>
                      </a:r>
                    </a:p>
                  </a:txBody>
                  <a:tcPr marL="91440" marR="91440" marT="45720" marB="45720">
                    <a:solidFill>
                      <a:srgbClr val="775B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景点圈</a:t>
                      </a:r>
                    </a:p>
                  </a:txBody>
                  <a:tcPr marL="91440" marR="91440" marT="45720" marB="45720">
                    <a:solidFill>
                      <a:srgbClr val="775B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计分人数</a:t>
                      </a:r>
                    </a:p>
                  </a:txBody>
                  <a:tcPr marL="91440" marR="91440" marT="45720" marB="45720">
                    <a:solidFill>
                      <a:srgbClr val="775B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平均分</a:t>
                      </a:r>
                    </a:p>
                  </a:txBody>
                  <a:tcPr marL="91440" marR="91440" marT="45720" marB="45720">
                    <a:solidFill>
                      <a:srgbClr val="775B24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</a:t>
                      </a:r>
                    </a:p>
                  </a:txBody>
                  <a:tcPr marL="91440" marR="91440" marT="45720" marB="45720">
                    <a:solidFill>
                      <a:srgbClr val="FFFC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示例小组1</a:t>
                      </a:r>
                    </a:p>
                  </a:txBody>
                  <a:tcPr marL="91440" marR="91440" marT="45720" marB="45720">
                    <a:solidFill>
                      <a:srgbClr val="FFFC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示例景点圈A</a:t>
                      </a:r>
                    </a:p>
                  </a:txBody>
                  <a:tcPr marL="91440" marR="91440" marT="45720" marB="45720">
                    <a:solidFill>
                      <a:srgbClr val="FFFC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</a:t>
                      </a:r>
                    </a:p>
                  </a:txBody>
                  <a:tcPr marL="91440" marR="91440" marT="45720" marB="45720">
                    <a:solidFill>
                      <a:srgbClr val="FFFC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15.50</a:t>
                      </a:r>
                    </a:p>
                  </a:txBody>
                  <a:tcPr marL="91440" marR="91440" marT="45720" marB="45720">
                    <a:solidFill>
                      <a:srgbClr val="FFFCF4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</a:t>
                      </a:r>
                    </a:p>
                  </a:txBody>
                  <a:tcPr marL="91440" marR="91440" marT="45720" marB="45720">
                    <a:solidFill>
                      <a:srgbClr val="F4EDD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示例小组2</a:t>
                      </a:r>
                    </a:p>
                  </a:txBody>
                  <a:tcPr marL="91440" marR="91440" marT="45720" marB="45720">
                    <a:solidFill>
                      <a:srgbClr val="F4EDD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示例景点圈B</a:t>
                      </a:r>
                    </a:p>
                  </a:txBody>
                  <a:tcPr marL="91440" marR="91440" marT="45720" marB="45720">
                    <a:solidFill>
                      <a:srgbClr val="F4EDD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11</a:t>
                      </a:r>
                    </a:p>
                  </a:txBody>
                  <a:tcPr marL="91440" marR="91440" marT="45720" marB="45720">
                    <a:solidFill>
                      <a:srgbClr val="F4EDD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14.90</a:t>
                      </a:r>
                    </a:p>
                  </a:txBody>
                  <a:tcPr marL="91440" marR="91440" marT="45720" marB="45720">
                    <a:solidFill>
                      <a:srgbClr val="F4EDD8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</a:t>
                      </a:r>
                    </a:p>
                  </a:txBody>
                  <a:tcPr marL="91440" marR="91440" marT="45720" marB="45720">
                    <a:solidFill>
                      <a:srgbClr val="FFFC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示例小组3</a:t>
                      </a:r>
                    </a:p>
                  </a:txBody>
                  <a:tcPr marL="91440" marR="91440" marT="45720" marB="45720">
                    <a:solidFill>
                      <a:srgbClr val="FFFC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示例景点圈C</a:t>
                      </a:r>
                    </a:p>
                  </a:txBody>
                  <a:tcPr marL="91440" marR="91440" marT="45720" marB="45720">
                    <a:solidFill>
                      <a:srgbClr val="FFFC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</a:t>
                      </a:r>
                    </a:p>
                  </a:txBody>
                  <a:tcPr marL="91440" marR="91440" marT="45720" marB="45720">
                    <a:solidFill>
                      <a:srgbClr val="FFFC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14.30</a:t>
                      </a:r>
                    </a:p>
                  </a:txBody>
                  <a:tcPr marL="91440" marR="91440" marT="45720" marB="45720">
                    <a:solidFill>
                      <a:srgbClr val="FFFCF4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</a:t>
                      </a:r>
                    </a:p>
                  </a:txBody>
                  <a:tcPr marL="91440" marR="91440" marT="45720" marB="45720">
                    <a:solidFill>
                      <a:srgbClr val="F4EDD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示例小组4</a:t>
                      </a:r>
                    </a:p>
                  </a:txBody>
                  <a:tcPr marL="91440" marR="91440" marT="45720" marB="45720">
                    <a:solidFill>
                      <a:srgbClr val="F4EDD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示例景点圈A</a:t>
                      </a:r>
                    </a:p>
                  </a:txBody>
                  <a:tcPr marL="91440" marR="91440" marT="45720" marB="45720">
                    <a:solidFill>
                      <a:srgbClr val="F4EDD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13</a:t>
                      </a:r>
                    </a:p>
                  </a:txBody>
                  <a:tcPr marL="91440" marR="91440" marT="45720" marB="45720">
                    <a:solidFill>
                      <a:srgbClr val="F4EDD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13.70</a:t>
                      </a:r>
                    </a:p>
                  </a:txBody>
                  <a:tcPr marL="91440" marR="91440" marT="45720" marB="45720">
                    <a:solidFill>
                      <a:srgbClr val="F4EDD8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</a:t>
                      </a:r>
                    </a:p>
                  </a:txBody>
                  <a:tcPr marL="91440" marR="91440" marT="45720" marB="45720">
                    <a:solidFill>
                      <a:srgbClr val="FFFC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示例小组5</a:t>
                      </a:r>
                    </a:p>
                  </a:txBody>
                  <a:tcPr marL="91440" marR="91440" marT="45720" marB="45720">
                    <a:solidFill>
                      <a:srgbClr val="FFFC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示例景点圈B</a:t>
                      </a:r>
                    </a:p>
                  </a:txBody>
                  <a:tcPr marL="91440" marR="91440" marT="45720" marB="45720">
                    <a:solidFill>
                      <a:srgbClr val="FFFC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14</a:t>
                      </a:r>
                    </a:p>
                  </a:txBody>
                  <a:tcPr marL="91440" marR="91440" marT="45720" marB="45720">
                    <a:solidFill>
                      <a:srgbClr val="FFFC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13.10</a:t>
                      </a:r>
                    </a:p>
                  </a:txBody>
                  <a:tcPr marL="91440" marR="91440" marT="45720" marB="45720">
                    <a:solidFill>
                      <a:srgbClr val="FFFCF4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</a:t>
                      </a:r>
                    </a:p>
                  </a:txBody>
                  <a:tcPr marL="91440" marR="91440" marT="45720" marB="45720">
                    <a:solidFill>
                      <a:srgbClr val="F4EDD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示例小组6</a:t>
                      </a:r>
                    </a:p>
                  </a:txBody>
                  <a:tcPr marL="91440" marR="91440" marT="45720" marB="45720">
                    <a:solidFill>
                      <a:srgbClr val="F4EDD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示例景点圈C</a:t>
                      </a:r>
                    </a:p>
                  </a:txBody>
                  <a:tcPr marL="91440" marR="91440" marT="45720" marB="45720">
                    <a:solidFill>
                      <a:srgbClr val="F4EDD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15</a:t>
                      </a:r>
                    </a:p>
                  </a:txBody>
                  <a:tcPr marL="91440" marR="91440" marT="45720" marB="45720">
                    <a:solidFill>
                      <a:srgbClr val="F4EDD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12.50</a:t>
                      </a:r>
                    </a:p>
                  </a:txBody>
                  <a:tcPr marL="91440" marR="91440" marT="45720" marB="45720">
                    <a:solidFill>
                      <a:srgbClr val="F4EDD8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2D15CF9-4E6A-493E-8D89-98957A684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10250"/>
            <a:ext cx="1085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75654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756545"/>
                </a:solidFill>
                <a:latin typeface="Microsoft YaHei"/>
                <a:ea typeface="Microsoft YaHei"/>
                <a:cs typeface="Microsoft YaHei"/>
              </a:rPr>
              <a:t>复用计分上限、LOA及月结口径。历史小组使用当月归属快照。</a:t>
            </a:r>
          </a:p>
        </p:txBody>
      </p:sp>
    </p:spTree>
    <p:extLst>
      <p:ext uri="{BB962C8B-B14F-4D97-AF65-F5344CB8AC3E}">
        <p14:creationId xmlns:p14="http://schemas.microsoft.com/office/powerpoint/2010/main" val="105408955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C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EAC9EEC-DC2F-44EF-871A-0E48A1928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775B2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775B24"/>
                </a:solidFill>
                <a:latin typeface="Microsoft YaHei"/>
                <a:ea typeface="Microsoft YaHei"/>
                <a:cs typeface="Microsoft YaHei"/>
              </a:rPr>
              <a:t>优秀员工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F6BD1C6-158C-4EDB-93D5-C6FB923FD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38225"/>
            <a:ext cx="1066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75654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756545"/>
                </a:solidFill>
                <a:latin typeface="Microsoft YaHei"/>
                <a:ea typeface="Microsoft YaHei"/>
                <a:cs typeface="Microsoft YaHei"/>
              </a:rPr>
              <a:t>系统推荐候选，经人工确认后纳入正式月报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DC091FA-5C2B-48AE-833B-6651BD98F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53175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75654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756545"/>
                </a:solidFill>
                <a:latin typeface="Microsoft YaHei"/>
                <a:ea typeface="Microsoft YaHei"/>
                <a:cs typeface="Microsoft YaHei"/>
              </a:rPr>
              <a:t>示例数据 / 非正式报告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9B12DF4-9BBB-4FEF-8D50-1369845DC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53175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75654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756545"/>
                </a:solidFill>
                <a:latin typeface="Microsoft YaHei"/>
                <a:ea typeface="Microsoft YaHei"/>
                <a:cs typeface="Microsoft YaHei"/>
              </a:rPr>
              <a:t>11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09600" y="1714500"/>
          <a:ext xmlns:a="http://schemas.openxmlformats.org/drawingml/2006/main" cx="10972800" cy="19812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  <a:gridCol w="2743200"/>
              </a:tblGrid>
              <a:tr h="49530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人员类别</a:t>
                      </a:r>
                    </a:p>
                  </a:txBody>
                  <a:tcPr marL="91440" marR="91440" marT="45720" marB="45720">
                    <a:solidFill>
                      <a:srgbClr val="775B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候选员工</a:t>
                      </a:r>
                    </a:p>
                  </a:txBody>
                  <a:tcPr marL="91440" marR="91440" marT="45720" marB="45720">
                    <a:solidFill>
                      <a:srgbClr val="775B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景点圈</a:t>
                      </a:r>
                    </a:p>
                  </a:txBody>
                  <a:tcPr marL="91440" marR="91440" marT="45720" marB="45720">
                    <a:solidFill>
                      <a:srgbClr val="775B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推荐依据</a:t>
                      </a:r>
                    </a:p>
                  </a:txBody>
                  <a:tcPr marL="91440" marR="91440" marT="45720" marB="45720">
                    <a:solidFill>
                      <a:srgbClr val="775B24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CM</a:t>
                      </a:r>
                    </a:p>
                  </a:txBody>
                  <a:tcPr marL="91440" marR="91440" marT="45720" marB="45720">
                    <a:solidFill>
                      <a:srgbClr val="FFFC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示例候选01</a:t>
                      </a:r>
                    </a:p>
                  </a:txBody>
                  <a:tcPr marL="91440" marR="91440" marT="45720" marB="45720">
                    <a:solidFill>
                      <a:srgbClr val="FFFC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示例景点圈A</a:t>
                      </a:r>
                    </a:p>
                  </a:txBody>
                  <a:tcPr marL="91440" marR="91440" marT="45720" marB="45720">
                    <a:solidFill>
                      <a:srgbClr val="FFFC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月度PR排名</a:t>
                      </a:r>
                    </a:p>
                  </a:txBody>
                  <a:tcPr marL="91440" marR="91440" marT="45720" marB="45720">
                    <a:solidFill>
                      <a:srgbClr val="FFFCF4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TR</a:t>
                      </a:r>
                    </a:p>
                  </a:txBody>
                  <a:tcPr marL="91440" marR="91440" marT="45720" marB="45720">
                    <a:solidFill>
                      <a:srgbClr val="F4EDD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示例候选02</a:t>
                      </a:r>
                    </a:p>
                  </a:txBody>
                  <a:tcPr marL="91440" marR="91440" marT="45720" marB="45720">
                    <a:solidFill>
                      <a:srgbClr val="F4EDD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示例景点圈B</a:t>
                      </a:r>
                    </a:p>
                  </a:txBody>
                  <a:tcPr marL="91440" marR="91440" marT="45720" marB="45720">
                    <a:solidFill>
                      <a:srgbClr val="F4EDD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月度PR排名</a:t>
                      </a:r>
                    </a:p>
                  </a:txBody>
                  <a:tcPr marL="91440" marR="91440" marT="45720" marB="45720">
                    <a:solidFill>
                      <a:srgbClr val="F4EDD8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LEAD</a:t>
                      </a:r>
                    </a:p>
                  </a:txBody>
                  <a:tcPr marL="91440" marR="91440" marT="45720" marB="45720">
                    <a:solidFill>
                      <a:srgbClr val="FFFC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示例候选03</a:t>
                      </a:r>
                    </a:p>
                  </a:txBody>
                  <a:tcPr marL="91440" marR="91440" marT="45720" marB="45720">
                    <a:solidFill>
                      <a:srgbClr val="FFFC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示例景点圈C</a:t>
                      </a:r>
                    </a:p>
                  </a:txBody>
                  <a:tcPr marL="91440" marR="91440" marT="45720" marB="45720">
                    <a:solidFill>
                      <a:srgbClr val="FFFC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月度PR排名</a:t>
                      </a:r>
                    </a:p>
                  </a:txBody>
                  <a:tcPr marL="91440" marR="91440" marT="45720" marB="45720">
                    <a:solidFill>
                      <a:srgbClr val="FFFCF4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AC45B46-FEED-477B-95AD-7E4BB8719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43400"/>
            <a:ext cx="10858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755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75540"/>
                </a:solidFill>
                <a:latin typeface="Microsoft YaHei"/>
                <a:ea typeface="Microsoft YaHei"/>
                <a:cs typeface="Microsoft YaHei"/>
              </a:rPr>
              <a:t>名单状态：示例展示，尚未人工确认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191E119-8770-4C95-996D-D749FAC82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29200"/>
            <a:ext cx="10858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75654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756545"/>
                </a:solidFill>
                <a:latin typeface="Microsoft YaHei"/>
                <a:ea typeface="Microsoft YaHei"/>
                <a:cs typeface="Microsoft YaHei"/>
              </a:rPr>
              <a:t>事迹说明由使用者填写。未确认名单时，正式导出跳过本页。</a:t>
            </a:r>
          </a:p>
        </p:txBody>
      </p:sp>
    </p:spTree>
    <p:extLst>
      <p:ext uri="{BB962C8B-B14F-4D97-AF65-F5344CB8AC3E}">
        <p14:creationId xmlns:p14="http://schemas.microsoft.com/office/powerpoint/2010/main" val="333377586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C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CF4C8AA-4474-433F-8D77-1A7D6C40C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775B2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775B24"/>
                </a:solidFill>
                <a:latin typeface="Microsoft YaHei"/>
                <a:ea typeface="Microsoft YaHei"/>
                <a:cs typeface="Microsoft YaHei"/>
              </a:rPr>
              <a:t>PR排名：CM / TR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1C02D8C-06A3-4987-8094-48E0C4B71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38225"/>
            <a:ext cx="1066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75654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756545"/>
                </a:solidFill>
                <a:latin typeface="Microsoft YaHei"/>
                <a:ea typeface="Microsoft YaHei"/>
                <a:cs typeface="Microsoft YaHei"/>
              </a:rPr>
              <a:t>示例景点圈A  1 / 2  每页最多8人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B7A0675-7807-468C-8D8F-7BDBDA686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53175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75654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756545"/>
                </a:solidFill>
                <a:latin typeface="Microsoft YaHei"/>
                <a:ea typeface="Microsoft YaHei"/>
                <a:cs typeface="Microsoft YaHei"/>
              </a:rPr>
              <a:t>示例数据 / 非正式报告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A1AB7B-028E-464A-8DD1-D08C739D5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53175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75654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756545"/>
                </a:solidFill>
                <a:latin typeface="Microsoft YaHei"/>
                <a:ea typeface="Microsoft YaHei"/>
                <a:cs typeface="Microsoft YaHei"/>
              </a:rPr>
              <a:t>12</a:t>
            </a:r>
          </a:p>
        </p:txBody>
      </p:sp>
      <p:graphicFrame>
        <p:nvGraphicFramePr>
          <p:cNvPr id="11" name=""/>
          <p:cNvGraphicFramePr/>
          <p:nvPr/>
        </p:nvGraphicFramePr>
        <p:xfrm>
          <a:off xmlns:a="http://schemas.openxmlformats.org/drawingml/2006/main" x="609600" y="1638300"/>
          <a:ext xmlns:a="http://schemas.openxmlformats.org/drawingml/2006/main" cx="10972800" cy="4095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762000"/>
                <a:gridCol w="2095500"/>
                <a:gridCol w="1524000"/>
                <a:gridCol w="1571625"/>
                <a:gridCol w="1666875"/>
                <a:gridCol w="1666875"/>
                <a:gridCol w="1685925"/>
              </a:tblGrid>
              <a:tr h="455083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排名</a:t>
                      </a:r>
                    </a:p>
                  </a:txBody>
                  <a:tcPr marL="91440" marR="91440" marT="45720" marB="45720">
                    <a:solidFill>
                      <a:srgbClr val="775B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员工</a:t>
                      </a:r>
                    </a:p>
                  </a:txBody>
                  <a:tcPr marL="91440" marR="91440" marT="45720" marB="45720">
                    <a:solidFill>
                      <a:srgbClr val="775B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工号</a:t>
                      </a:r>
                    </a:p>
                  </a:txBody>
                  <a:tcPr marL="91440" marR="91440" marT="45720" marB="45720">
                    <a:solidFill>
                      <a:srgbClr val="775B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加分</a:t>
                      </a:r>
                    </a:p>
                  </a:txBody>
                  <a:tcPr marL="91440" marR="91440" marT="45720" marB="45720">
                    <a:solidFill>
                      <a:srgbClr val="775B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实际扣分</a:t>
                      </a:r>
                    </a:p>
                  </a:txBody>
                  <a:tcPr marL="91440" marR="91440" marT="45720" marB="45720">
                    <a:solidFill>
                      <a:srgbClr val="775B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全勤分</a:t>
                      </a:r>
                    </a:p>
                  </a:txBody>
                  <a:tcPr marL="91440" marR="91440" marT="45720" marB="45720">
                    <a:solidFill>
                      <a:srgbClr val="775B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综合分</a:t>
                      </a:r>
                    </a:p>
                  </a:txBody>
                  <a:tcPr marL="91440" marR="91440" marT="45720" marB="45720">
                    <a:solidFill>
                      <a:srgbClr val="775B24"/>
                    </a:solidFill>
                  </a:tcPr>
                </a:tc>
              </a:tr>
              <a:tr h="455083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</a:t>
                      </a:r>
                    </a:p>
                  </a:txBody>
                  <a:tcPr marL="91440" marR="91440" marT="45720" marB="45720">
                    <a:solidFill>
                      <a:srgbClr val="FFFC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示例员工01</a:t>
                      </a:r>
                    </a:p>
                  </a:txBody>
                  <a:tcPr marL="91440" marR="91440" marT="45720" marB="45720">
                    <a:solidFill>
                      <a:srgbClr val="FFFC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9000001</a:t>
                      </a:r>
                    </a:p>
                  </a:txBody>
                  <a:tcPr marL="91440" marR="91440" marT="45720" marB="45720">
                    <a:solidFill>
                      <a:srgbClr val="FFFC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8.00</a:t>
                      </a:r>
                    </a:p>
                  </a:txBody>
                  <a:tcPr marL="91440" marR="91440" marT="45720" marB="45720">
                    <a:solidFill>
                      <a:srgbClr val="FFFC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0.00</a:t>
                      </a:r>
                    </a:p>
                  </a:txBody>
                  <a:tcPr marL="91440" marR="91440" marT="45720" marB="45720">
                    <a:solidFill>
                      <a:srgbClr val="FFFC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12.00</a:t>
                      </a:r>
                    </a:p>
                  </a:txBody>
                  <a:tcPr marL="91440" marR="91440" marT="45720" marB="45720">
                    <a:solidFill>
                      <a:srgbClr val="FFFC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20.00</a:t>
                      </a:r>
                    </a:p>
                  </a:txBody>
                  <a:tcPr marL="91440" marR="91440" marT="45720" marB="45720">
                    <a:solidFill>
                      <a:srgbClr val="FFFCF4"/>
                    </a:solidFill>
                  </a:tcPr>
                </a:tc>
              </a:tr>
              <a:tr h="455083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</a:t>
                      </a:r>
                    </a:p>
                  </a:txBody>
                  <a:tcPr marL="91440" marR="91440" marT="45720" marB="45720">
                    <a:solidFill>
                      <a:srgbClr val="F4EDD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示例员工02</a:t>
                      </a:r>
                    </a:p>
                  </a:txBody>
                  <a:tcPr marL="91440" marR="91440" marT="45720" marB="45720">
                    <a:solidFill>
                      <a:srgbClr val="F4EDD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9000002</a:t>
                      </a:r>
                    </a:p>
                  </a:txBody>
                  <a:tcPr marL="91440" marR="91440" marT="45720" marB="45720">
                    <a:solidFill>
                      <a:srgbClr val="F4EDD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7.70</a:t>
                      </a:r>
                    </a:p>
                  </a:txBody>
                  <a:tcPr marL="91440" marR="91440" marT="45720" marB="45720">
                    <a:solidFill>
                      <a:srgbClr val="F4EDD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0.00</a:t>
                      </a:r>
                    </a:p>
                  </a:txBody>
                  <a:tcPr marL="91440" marR="91440" marT="45720" marB="45720">
                    <a:solidFill>
                      <a:srgbClr val="F4EDD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12.00</a:t>
                      </a:r>
                    </a:p>
                  </a:txBody>
                  <a:tcPr marL="91440" marR="91440" marT="45720" marB="45720">
                    <a:solidFill>
                      <a:srgbClr val="F4EDD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19.70</a:t>
                      </a:r>
                    </a:p>
                  </a:txBody>
                  <a:tcPr marL="91440" marR="91440" marT="45720" marB="45720">
                    <a:solidFill>
                      <a:srgbClr val="F4EDD8"/>
                    </a:solidFill>
                  </a:tcPr>
                </a:tc>
              </a:tr>
              <a:tr h="455083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</a:t>
                      </a:r>
                    </a:p>
                  </a:txBody>
                  <a:tcPr marL="91440" marR="91440" marT="45720" marB="45720">
                    <a:solidFill>
                      <a:srgbClr val="FFFC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示例员工03</a:t>
                      </a:r>
                    </a:p>
                  </a:txBody>
                  <a:tcPr marL="91440" marR="91440" marT="45720" marB="45720">
                    <a:solidFill>
                      <a:srgbClr val="FFFC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9000003</a:t>
                      </a:r>
                    </a:p>
                  </a:txBody>
                  <a:tcPr marL="91440" marR="91440" marT="45720" marB="45720">
                    <a:solidFill>
                      <a:srgbClr val="FFFC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7.40</a:t>
                      </a:r>
                    </a:p>
                  </a:txBody>
                  <a:tcPr marL="91440" marR="91440" marT="45720" marB="45720">
                    <a:solidFill>
                      <a:srgbClr val="FFFC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0.00</a:t>
                      </a:r>
                    </a:p>
                  </a:txBody>
                  <a:tcPr marL="91440" marR="91440" marT="45720" marB="45720">
                    <a:solidFill>
                      <a:srgbClr val="FFFC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12.00</a:t>
                      </a:r>
                    </a:p>
                  </a:txBody>
                  <a:tcPr marL="91440" marR="91440" marT="45720" marB="45720">
                    <a:solidFill>
                      <a:srgbClr val="FFFC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19.40</a:t>
                      </a:r>
                    </a:p>
                  </a:txBody>
                  <a:tcPr marL="91440" marR="91440" marT="45720" marB="45720">
                    <a:solidFill>
                      <a:srgbClr val="FFFCF4"/>
                    </a:solidFill>
                  </a:tcPr>
                </a:tc>
              </a:tr>
              <a:tr h="455083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</a:t>
                      </a:r>
                    </a:p>
                  </a:txBody>
                  <a:tcPr marL="91440" marR="91440" marT="45720" marB="45720">
                    <a:solidFill>
                      <a:srgbClr val="F4EDD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示例员工04</a:t>
                      </a:r>
                    </a:p>
                  </a:txBody>
                  <a:tcPr marL="91440" marR="91440" marT="45720" marB="45720">
                    <a:solidFill>
                      <a:srgbClr val="F4EDD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9000004</a:t>
                      </a:r>
                    </a:p>
                  </a:txBody>
                  <a:tcPr marL="91440" marR="91440" marT="45720" marB="45720">
                    <a:solidFill>
                      <a:srgbClr val="F4EDD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7.10</a:t>
                      </a:r>
                    </a:p>
                  </a:txBody>
                  <a:tcPr marL="91440" marR="91440" marT="45720" marB="45720">
                    <a:solidFill>
                      <a:srgbClr val="F4EDD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0.00</a:t>
                      </a:r>
                    </a:p>
                  </a:txBody>
                  <a:tcPr marL="91440" marR="91440" marT="45720" marB="45720">
                    <a:solidFill>
                      <a:srgbClr val="F4EDD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12.00</a:t>
                      </a:r>
                    </a:p>
                  </a:txBody>
                  <a:tcPr marL="91440" marR="91440" marT="45720" marB="45720">
                    <a:solidFill>
                      <a:srgbClr val="F4EDD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19.10</a:t>
                      </a:r>
                    </a:p>
                  </a:txBody>
                  <a:tcPr marL="91440" marR="91440" marT="45720" marB="45720">
                    <a:solidFill>
                      <a:srgbClr val="F4EDD8"/>
                    </a:solidFill>
                  </a:tcPr>
                </a:tc>
              </a:tr>
              <a:tr h="455083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</a:t>
                      </a:r>
                    </a:p>
                  </a:txBody>
                  <a:tcPr marL="91440" marR="91440" marT="45720" marB="45720">
                    <a:solidFill>
                      <a:srgbClr val="FFFC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示例员工05</a:t>
                      </a:r>
                    </a:p>
                  </a:txBody>
                  <a:tcPr marL="91440" marR="91440" marT="45720" marB="45720">
                    <a:solidFill>
                      <a:srgbClr val="FFFC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9000005</a:t>
                      </a:r>
                    </a:p>
                  </a:txBody>
                  <a:tcPr marL="91440" marR="91440" marT="45720" marB="45720">
                    <a:solidFill>
                      <a:srgbClr val="FFFC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6.80</a:t>
                      </a:r>
                    </a:p>
                  </a:txBody>
                  <a:tcPr marL="91440" marR="91440" marT="45720" marB="45720">
                    <a:solidFill>
                      <a:srgbClr val="FFFC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0.00</a:t>
                      </a:r>
                    </a:p>
                  </a:txBody>
                  <a:tcPr marL="91440" marR="91440" marT="45720" marB="45720">
                    <a:solidFill>
                      <a:srgbClr val="FFFC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12.00</a:t>
                      </a:r>
                    </a:p>
                  </a:txBody>
                  <a:tcPr marL="91440" marR="91440" marT="45720" marB="45720">
                    <a:solidFill>
                      <a:srgbClr val="FFFC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18.80</a:t>
                      </a:r>
                    </a:p>
                  </a:txBody>
                  <a:tcPr marL="91440" marR="91440" marT="45720" marB="45720">
                    <a:solidFill>
                      <a:srgbClr val="FFFCF4"/>
                    </a:solidFill>
                  </a:tcPr>
                </a:tc>
              </a:tr>
              <a:tr h="455083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</a:t>
                      </a:r>
                    </a:p>
                  </a:txBody>
                  <a:tcPr marL="91440" marR="91440" marT="45720" marB="45720">
                    <a:solidFill>
                      <a:srgbClr val="F4EDD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示例员工06</a:t>
                      </a:r>
                    </a:p>
                  </a:txBody>
                  <a:tcPr marL="91440" marR="91440" marT="45720" marB="45720">
                    <a:solidFill>
                      <a:srgbClr val="F4EDD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9000006</a:t>
                      </a:r>
                    </a:p>
                  </a:txBody>
                  <a:tcPr marL="91440" marR="91440" marT="45720" marB="45720">
                    <a:solidFill>
                      <a:srgbClr val="F4EDD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6.50</a:t>
                      </a:r>
                    </a:p>
                  </a:txBody>
                  <a:tcPr marL="91440" marR="91440" marT="45720" marB="45720">
                    <a:solidFill>
                      <a:srgbClr val="F4EDD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0.00</a:t>
                      </a:r>
                    </a:p>
                  </a:txBody>
                  <a:tcPr marL="91440" marR="91440" marT="45720" marB="45720">
                    <a:solidFill>
                      <a:srgbClr val="F4EDD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12.00</a:t>
                      </a:r>
                    </a:p>
                  </a:txBody>
                  <a:tcPr marL="91440" marR="91440" marT="45720" marB="45720">
                    <a:solidFill>
                      <a:srgbClr val="F4EDD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18.50</a:t>
                      </a:r>
                    </a:p>
                  </a:txBody>
                  <a:tcPr marL="91440" marR="91440" marT="45720" marB="45720">
                    <a:solidFill>
                      <a:srgbClr val="F4EDD8"/>
                    </a:solidFill>
                  </a:tcPr>
                </a:tc>
              </a:tr>
              <a:tr h="455083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</a:t>
                      </a:r>
                    </a:p>
                  </a:txBody>
                  <a:tcPr marL="91440" marR="91440" marT="45720" marB="45720">
                    <a:solidFill>
                      <a:srgbClr val="FFFC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示例员工07</a:t>
                      </a:r>
                    </a:p>
                  </a:txBody>
                  <a:tcPr marL="91440" marR="91440" marT="45720" marB="45720">
                    <a:solidFill>
                      <a:srgbClr val="FFFC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9000007</a:t>
                      </a:r>
                    </a:p>
                  </a:txBody>
                  <a:tcPr marL="91440" marR="91440" marT="45720" marB="45720">
                    <a:solidFill>
                      <a:srgbClr val="FFFC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6.20</a:t>
                      </a:r>
                    </a:p>
                  </a:txBody>
                  <a:tcPr marL="91440" marR="91440" marT="45720" marB="45720">
                    <a:solidFill>
                      <a:srgbClr val="FFFC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0.00</a:t>
                      </a:r>
                    </a:p>
                  </a:txBody>
                  <a:tcPr marL="91440" marR="91440" marT="45720" marB="45720">
                    <a:solidFill>
                      <a:srgbClr val="FFFC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12.00</a:t>
                      </a:r>
                    </a:p>
                  </a:txBody>
                  <a:tcPr marL="91440" marR="91440" marT="45720" marB="45720">
                    <a:solidFill>
                      <a:srgbClr val="FFFC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18.20</a:t>
                      </a:r>
                    </a:p>
                  </a:txBody>
                  <a:tcPr marL="91440" marR="91440" marT="45720" marB="45720">
                    <a:solidFill>
                      <a:srgbClr val="FFFCF4"/>
                    </a:solidFill>
                  </a:tcPr>
                </a:tc>
              </a:tr>
              <a:tr h="455083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</a:t>
                      </a:r>
                    </a:p>
                  </a:txBody>
                  <a:tcPr marL="91440" marR="91440" marT="45720" marB="45720">
                    <a:solidFill>
                      <a:srgbClr val="F4EDD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示例员工08</a:t>
                      </a:r>
                    </a:p>
                  </a:txBody>
                  <a:tcPr marL="91440" marR="91440" marT="45720" marB="45720">
                    <a:solidFill>
                      <a:srgbClr val="F4EDD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9000008</a:t>
                      </a:r>
                    </a:p>
                  </a:txBody>
                  <a:tcPr marL="91440" marR="91440" marT="45720" marB="45720">
                    <a:solidFill>
                      <a:srgbClr val="F4EDD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5.90</a:t>
                      </a:r>
                    </a:p>
                  </a:txBody>
                  <a:tcPr marL="91440" marR="91440" marT="45720" marB="45720">
                    <a:solidFill>
                      <a:srgbClr val="F4EDD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0.00</a:t>
                      </a:r>
                    </a:p>
                  </a:txBody>
                  <a:tcPr marL="91440" marR="91440" marT="45720" marB="45720">
                    <a:solidFill>
                      <a:srgbClr val="F4EDD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12.00</a:t>
                      </a:r>
                    </a:p>
                  </a:txBody>
                  <a:tcPr marL="91440" marR="91440" marT="45720" marB="45720">
                    <a:solidFill>
                      <a:srgbClr val="F4EDD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17.90</a:t>
                      </a:r>
                    </a:p>
                  </a:txBody>
                  <a:tcPr marL="91440" marR="91440" marT="45720" marB="45720">
                    <a:solidFill>
                      <a:srgbClr val="F4EDD8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C8BF23D-D545-487B-B300-9CC14E4AD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763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75654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756545"/>
                </a:solidFill>
                <a:latin typeface="Microsoft YaHei"/>
                <a:ea typeface="Microsoft YaHei"/>
                <a:cs typeface="Microsoft YaHei"/>
              </a:rPr>
              <a:t>LOA排除计分，排名及分值复用系统正式口径。</a:t>
            </a:r>
          </a:p>
        </p:txBody>
      </p:sp>
    </p:spTree>
    <p:extLst>
      <p:ext uri="{BB962C8B-B14F-4D97-AF65-F5344CB8AC3E}">
        <p14:creationId xmlns:p14="http://schemas.microsoft.com/office/powerpoint/2010/main" val="185102667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C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82BA71E-8282-49F2-92FE-3692955F2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775B2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775B24"/>
                </a:solidFill>
                <a:latin typeface="Microsoft YaHei"/>
                <a:ea typeface="Microsoft YaHei"/>
                <a:cs typeface="Microsoft YaHei"/>
              </a:rPr>
              <a:t>PR排名：CM / TR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447001E-B3D9-437A-828A-6C430DB6B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38225"/>
            <a:ext cx="1066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75654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756545"/>
                </a:solidFill>
                <a:latin typeface="Microsoft YaHei"/>
                <a:ea typeface="Microsoft YaHei"/>
                <a:cs typeface="Microsoft YaHei"/>
              </a:rPr>
              <a:t>示例景点圈A  2 / 2  每页最多8人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04D041A-FD06-4824-A6A3-FE9A7937D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53175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75654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756545"/>
                </a:solidFill>
                <a:latin typeface="Microsoft YaHei"/>
                <a:ea typeface="Microsoft YaHei"/>
                <a:cs typeface="Microsoft YaHei"/>
              </a:rPr>
              <a:t>示例数据 / 非正式报告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6F35F84-95FE-4B6A-A5BB-1A63C2BB4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53175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75654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756545"/>
                </a:solidFill>
                <a:latin typeface="Microsoft YaHei"/>
                <a:ea typeface="Microsoft YaHei"/>
                <a:cs typeface="Microsoft YaHei"/>
              </a:rPr>
              <a:t>13</a:t>
            </a:r>
          </a:p>
        </p:txBody>
      </p:sp>
      <p:graphicFrame>
        <p:nvGraphicFramePr>
          <p:cNvPr id="11" name=""/>
          <p:cNvGraphicFramePr/>
          <p:nvPr/>
        </p:nvGraphicFramePr>
        <p:xfrm>
          <a:off xmlns:a="http://schemas.openxmlformats.org/drawingml/2006/main" x="609600" y="1638300"/>
          <a:ext xmlns:a="http://schemas.openxmlformats.org/drawingml/2006/main" cx="10972800" cy="4095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762000"/>
                <a:gridCol w="2095500"/>
                <a:gridCol w="1524000"/>
                <a:gridCol w="1571625"/>
                <a:gridCol w="1666875"/>
                <a:gridCol w="1666875"/>
                <a:gridCol w="1685925"/>
              </a:tblGrid>
              <a:tr h="455083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排名</a:t>
                      </a:r>
                    </a:p>
                  </a:txBody>
                  <a:tcPr marL="91440" marR="91440" marT="45720" marB="45720">
                    <a:solidFill>
                      <a:srgbClr val="775B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员工</a:t>
                      </a:r>
                    </a:p>
                  </a:txBody>
                  <a:tcPr marL="91440" marR="91440" marT="45720" marB="45720">
                    <a:solidFill>
                      <a:srgbClr val="775B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工号</a:t>
                      </a:r>
                    </a:p>
                  </a:txBody>
                  <a:tcPr marL="91440" marR="91440" marT="45720" marB="45720">
                    <a:solidFill>
                      <a:srgbClr val="775B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加分</a:t>
                      </a:r>
                    </a:p>
                  </a:txBody>
                  <a:tcPr marL="91440" marR="91440" marT="45720" marB="45720">
                    <a:solidFill>
                      <a:srgbClr val="775B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实际扣分</a:t>
                      </a:r>
                    </a:p>
                  </a:txBody>
                  <a:tcPr marL="91440" marR="91440" marT="45720" marB="45720">
                    <a:solidFill>
                      <a:srgbClr val="775B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全勤分</a:t>
                      </a:r>
                    </a:p>
                  </a:txBody>
                  <a:tcPr marL="91440" marR="91440" marT="45720" marB="45720">
                    <a:solidFill>
                      <a:srgbClr val="775B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综合分</a:t>
                      </a:r>
                    </a:p>
                  </a:txBody>
                  <a:tcPr marL="91440" marR="91440" marT="45720" marB="45720">
                    <a:solidFill>
                      <a:srgbClr val="775B24"/>
                    </a:solidFill>
                  </a:tcPr>
                </a:tc>
              </a:tr>
              <a:tr h="455083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</a:t>
                      </a:r>
                    </a:p>
                  </a:txBody>
                  <a:tcPr marL="91440" marR="91440" marT="45720" marB="45720">
                    <a:solidFill>
                      <a:srgbClr val="FFFC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示例员工09</a:t>
                      </a:r>
                    </a:p>
                  </a:txBody>
                  <a:tcPr marL="91440" marR="91440" marT="45720" marB="45720">
                    <a:solidFill>
                      <a:srgbClr val="FFFC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9000009</a:t>
                      </a:r>
                    </a:p>
                  </a:txBody>
                  <a:tcPr marL="91440" marR="91440" marT="45720" marB="45720">
                    <a:solidFill>
                      <a:srgbClr val="FFFC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5.60</a:t>
                      </a:r>
                    </a:p>
                  </a:txBody>
                  <a:tcPr marL="91440" marR="91440" marT="45720" marB="45720">
                    <a:solidFill>
                      <a:srgbClr val="FFFC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0.00</a:t>
                      </a:r>
                    </a:p>
                  </a:txBody>
                  <a:tcPr marL="91440" marR="91440" marT="45720" marB="45720">
                    <a:solidFill>
                      <a:srgbClr val="FFFC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12.00</a:t>
                      </a:r>
                    </a:p>
                  </a:txBody>
                  <a:tcPr marL="91440" marR="91440" marT="45720" marB="45720">
                    <a:solidFill>
                      <a:srgbClr val="FFFC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17.60</a:t>
                      </a:r>
                    </a:p>
                  </a:txBody>
                  <a:tcPr marL="91440" marR="91440" marT="45720" marB="45720">
                    <a:solidFill>
                      <a:srgbClr val="FFFCF4"/>
                    </a:solidFill>
                  </a:tcPr>
                </a:tc>
              </a:tr>
              <a:tr h="455083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</a:t>
                      </a:r>
                    </a:p>
                  </a:txBody>
                  <a:tcPr marL="91440" marR="91440" marT="45720" marB="45720">
                    <a:solidFill>
                      <a:srgbClr val="F4EDD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示例员工10</a:t>
                      </a:r>
                    </a:p>
                  </a:txBody>
                  <a:tcPr marL="91440" marR="91440" marT="45720" marB="45720">
                    <a:solidFill>
                      <a:srgbClr val="F4EDD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9000010</a:t>
                      </a:r>
                    </a:p>
                  </a:txBody>
                  <a:tcPr marL="91440" marR="91440" marT="45720" marB="45720">
                    <a:solidFill>
                      <a:srgbClr val="F4EDD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5.30</a:t>
                      </a:r>
                    </a:p>
                  </a:txBody>
                  <a:tcPr marL="91440" marR="91440" marT="45720" marB="45720">
                    <a:solidFill>
                      <a:srgbClr val="F4EDD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0.00</a:t>
                      </a:r>
                    </a:p>
                  </a:txBody>
                  <a:tcPr marL="91440" marR="91440" marT="45720" marB="45720">
                    <a:solidFill>
                      <a:srgbClr val="F4EDD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12.00</a:t>
                      </a:r>
                    </a:p>
                  </a:txBody>
                  <a:tcPr marL="91440" marR="91440" marT="45720" marB="45720">
                    <a:solidFill>
                      <a:srgbClr val="F4EDD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17.30</a:t>
                      </a:r>
                    </a:p>
                  </a:txBody>
                  <a:tcPr marL="91440" marR="91440" marT="45720" marB="45720">
                    <a:solidFill>
                      <a:srgbClr val="F4EDD8"/>
                    </a:solidFill>
                  </a:tcPr>
                </a:tc>
              </a:tr>
              <a:tr h="455083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11</a:t>
                      </a:r>
                    </a:p>
                  </a:txBody>
                  <a:tcPr marL="91440" marR="91440" marT="45720" marB="45720">
                    <a:solidFill>
                      <a:srgbClr val="FFFC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示例员工11</a:t>
                      </a:r>
                    </a:p>
                  </a:txBody>
                  <a:tcPr marL="91440" marR="91440" marT="45720" marB="45720">
                    <a:solidFill>
                      <a:srgbClr val="FFFC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9000011</a:t>
                      </a:r>
                    </a:p>
                  </a:txBody>
                  <a:tcPr marL="91440" marR="91440" marT="45720" marB="45720">
                    <a:solidFill>
                      <a:srgbClr val="FFFC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5.00</a:t>
                      </a:r>
                    </a:p>
                  </a:txBody>
                  <a:tcPr marL="91440" marR="91440" marT="45720" marB="45720">
                    <a:solidFill>
                      <a:srgbClr val="FFFC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0.00</a:t>
                      </a:r>
                    </a:p>
                  </a:txBody>
                  <a:tcPr marL="91440" marR="91440" marT="45720" marB="45720">
                    <a:solidFill>
                      <a:srgbClr val="FFFC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12.00</a:t>
                      </a:r>
                    </a:p>
                  </a:txBody>
                  <a:tcPr marL="91440" marR="91440" marT="45720" marB="45720">
                    <a:solidFill>
                      <a:srgbClr val="FFFC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17.00</a:t>
                      </a:r>
                    </a:p>
                  </a:txBody>
                  <a:tcPr marL="91440" marR="91440" marT="45720" marB="45720">
                    <a:solidFill>
                      <a:srgbClr val="FFFCF4"/>
                    </a:solidFill>
                  </a:tcPr>
                </a:tc>
              </a:tr>
              <a:tr h="455083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</a:t>
                      </a:r>
                    </a:p>
                  </a:txBody>
                  <a:tcPr marL="91440" marR="91440" marT="45720" marB="45720">
                    <a:solidFill>
                      <a:srgbClr val="F4EDD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示例员工12</a:t>
                      </a:r>
                    </a:p>
                  </a:txBody>
                  <a:tcPr marL="91440" marR="91440" marT="45720" marB="45720">
                    <a:solidFill>
                      <a:srgbClr val="F4EDD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9000012</a:t>
                      </a:r>
                    </a:p>
                  </a:txBody>
                  <a:tcPr marL="91440" marR="91440" marT="45720" marB="45720">
                    <a:solidFill>
                      <a:srgbClr val="F4EDD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4.70</a:t>
                      </a:r>
                    </a:p>
                  </a:txBody>
                  <a:tcPr marL="91440" marR="91440" marT="45720" marB="45720">
                    <a:solidFill>
                      <a:srgbClr val="F4EDD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0.00</a:t>
                      </a:r>
                    </a:p>
                  </a:txBody>
                  <a:tcPr marL="91440" marR="91440" marT="45720" marB="45720">
                    <a:solidFill>
                      <a:srgbClr val="F4EDD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12.00</a:t>
                      </a:r>
                    </a:p>
                  </a:txBody>
                  <a:tcPr marL="91440" marR="91440" marT="45720" marB="45720">
                    <a:solidFill>
                      <a:srgbClr val="F4EDD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16.70</a:t>
                      </a:r>
                    </a:p>
                  </a:txBody>
                  <a:tcPr marL="91440" marR="91440" marT="45720" marB="45720">
                    <a:solidFill>
                      <a:srgbClr val="F4EDD8"/>
                    </a:solidFill>
                  </a:tcPr>
                </a:tc>
              </a:tr>
              <a:tr h="455083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13</a:t>
                      </a:r>
                    </a:p>
                  </a:txBody>
                  <a:tcPr marL="91440" marR="91440" marT="45720" marB="45720">
                    <a:solidFill>
                      <a:srgbClr val="FFFC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示例员工13</a:t>
                      </a:r>
                    </a:p>
                  </a:txBody>
                  <a:tcPr marL="91440" marR="91440" marT="45720" marB="45720">
                    <a:solidFill>
                      <a:srgbClr val="FFFC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9000013</a:t>
                      </a:r>
                    </a:p>
                  </a:txBody>
                  <a:tcPr marL="91440" marR="91440" marT="45720" marB="45720">
                    <a:solidFill>
                      <a:srgbClr val="FFFC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4.40</a:t>
                      </a:r>
                    </a:p>
                  </a:txBody>
                  <a:tcPr marL="91440" marR="91440" marT="45720" marB="45720">
                    <a:solidFill>
                      <a:srgbClr val="FFFC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0.00</a:t>
                      </a:r>
                    </a:p>
                  </a:txBody>
                  <a:tcPr marL="91440" marR="91440" marT="45720" marB="45720">
                    <a:solidFill>
                      <a:srgbClr val="FFFC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12.00</a:t>
                      </a:r>
                    </a:p>
                  </a:txBody>
                  <a:tcPr marL="91440" marR="91440" marT="45720" marB="45720">
                    <a:solidFill>
                      <a:srgbClr val="FFFC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16.40</a:t>
                      </a:r>
                    </a:p>
                  </a:txBody>
                  <a:tcPr marL="91440" marR="91440" marT="45720" marB="45720">
                    <a:solidFill>
                      <a:srgbClr val="FFFCF4"/>
                    </a:solidFill>
                  </a:tcPr>
                </a:tc>
              </a:tr>
              <a:tr h="455083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14</a:t>
                      </a:r>
                    </a:p>
                  </a:txBody>
                  <a:tcPr marL="91440" marR="91440" marT="45720" marB="45720">
                    <a:solidFill>
                      <a:srgbClr val="F4EDD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示例员工14</a:t>
                      </a:r>
                    </a:p>
                  </a:txBody>
                  <a:tcPr marL="91440" marR="91440" marT="45720" marB="45720">
                    <a:solidFill>
                      <a:srgbClr val="F4EDD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9000014</a:t>
                      </a:r>
                    </a:p>
                  </a:txBody>
                  <a:tcPr marL="91440" marR="91440" marT="45720" marB="45720">
                    <a:solidFill>
                      <a:srgbClr val="F4EDD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4.10</a:t>
                      </a:r>
                    </a:p>
                  </a:txBody>
                  <a:tcPr marL="91440" marR="91440" marT="45720" marB="45720">
                    <a:solidFill>
                      <a:srgbClr val="F4EDD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0.00</a:t>
                      </a:r>
                    </a:p>
                  </a:txBody>
                  <a:tcPr marL="91440" marR="91440" marT="45720" marB="45720">
                    <a:solidFill>
                      <a:srgbClr val="F4EDD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12.00</a:t>
                      </a:r>
                    </a:p>
                  </a:txBody>
                  <a:tcPr marL="91440" marR="91440" marT="45720" marB="45720">
                    <a:solidFill>
                      <a:srgbClr val="F4EDD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16.10</a:t>
                      </a:r>
                    </a:p>
                  </a:txBody>
                  <a:tcPr marL="91440" marR="91440" marT="45720" marB="45720">
                    <a:solidFill>
                      <a:srgbClr val="F4EDD8"/>
                    </a:solidFill>
                  </a:tcPr>
                </a:tc>
              </a:tr>
              <a:tr h="455083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15</a:t>
                      </a:r>
                    </a:p>
                  </a:txBody>
                  <a:tcPr marL="91440" marR="91440" marT="45720" marB="45720">
                    <a:solidFill>
                      <a:srgbClr val="FFFC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示例员工15</a:t>
                      </a:r>
                    </a:p>
                  </a:txBody>
                  <a:tcPr marL="91440" marR="91440" marT="45720" marB="45720">
                    <a:solidFill>
                      <a:srgbClr val="FFFC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9000015</a:t>
                      </a:r>
                    </a:p>
                  </a:txBody>
                  <a:tcPr marL="91440" marR="91440" marT="45720" marB="45720">
                    <a:solidFill>
                      <a:srgbClr val="FFFC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3.80</a:t>
                      </a:r>
                    </a:p>
                  </a:txBody>
                  <a:tcPr marL="91440" marR="91440" marT="45720" marB="45720">
                    <a:solidFill>
                      <a:srgbClr val="FFFC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0.00</a:t>
                      </a:r>
                    </a:p>
                  </a:txBody>
                  <a:tcPr marL="91440" marR="91440" marT="45720" marB="45720">
                    <a:solidFill>
                      <a:srgbClr val="FFFC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12.00</a:t>
                      </a:r>
                    </a:p>
                  </a:txBody>
                  <a:tcPr marL="91440" marR="91440" marT="45720" marB="45720">
                    <a:solidFill>
                      <a:srgbClr val="FFFC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15.80</a:t>
                      </a:r>
                    </a:p>
                  </a:txBody>
                  <a:tcPr marL="91440" marR="91440" marT="45720" marB="45720">
                    <a:solidFill>
                      <a:srgbClr val="FFFCF4"/>
                    </a:solidFill>
                  </a:tcPr>
                </a:tc>
              </a:tr>
              <a:tr h="455083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16</a:t>
                      </a:r>
                    </a:p>
                  </a:txBody>
                  <a:tcPr marL="91440" marR="91440" marT="45720" marB="45720">
                    <a:solidFill>
                      <a:srgbClr val="F4EDD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示例员工16</a:t>
                      </a:r>
                    </a:p>
                  </a:txBody>
                  <a:tcPr marL="91440" marR="91440" marT="45720" marB="45720">
                    <a:solidFill>
                      <a:srgbClr val="F4EDD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9000016</a:t>
                      </a:r>
                    </a:p>
                  </a:txBody>
                  <a:tcPr marL="91440" marR="91440" marT="45720" marB="45720">
                    <a:solidFill>
                      <a:srgbClr val="F4EDD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3.50</a:t>
                      </a:r>
                    </a:p>
                  </a:txBody>
                  <a:tcPr marL="91440" marR="91440" marT="45720" marB="45720">
                    <a:solidFill>
                      <a:srgbClr val="F4EDD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0.00</a:t>
                      </a:r>
                    </a:p>
                  </a:txBody>
                  <a:tcPr marL="91440" marR="91440" marT="45720" marB="45720">
                    <a:solidFill>
                      <a:srgbClr val="F4EDD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12.00</a:t>
                      </a:r>
                    </a:p>
                  </a:txBody>
                  <a:tcPr marL="91440" marR="91440" marT="45720" marB="45720">
                    <a:solidFill>
                      <a:srgbClr val="F4EDD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15.50</a:t>
                      </a:r>
                    </a:p>
                  </a:txBody>
                  <a:tcPr marL="91440" marR="91440" marT="45720" marB="45720">
                    <a:solidFill>
                      <a:srgbClr val="F4EDD8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C9EDAD6-1381-4034-B33E-746E84D8C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763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75654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756545"/>
                </a:solidFill>
                <a:latin typeface="Microsoft YaHei"/>
                <a:ea typeface="Microsoft YaHei"/>
                <a:cs typeface="Microsoft YaHei"/>
              </a:rPr>
              <a:t>LOA排除计分，排名及分值复用系统正式口径。</a:t>
            </a:r>
          </a:p>
        </p:txBody>
      </p:sp>
    </p:spTree>
    <p:extLst>
      <p:ext uri="{BB962C8B-B14F-4D97-AF65-F5344CB8AC3E}">
        <p14:creationId xmlns:p14="http://schemas.microsoft.com/office/powerpoint/2010/main" val="27596594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C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ED81407-E3F7-4D95-B81E-2C0543EB8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775B2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775B24"/>
                </a:solidFill>
                <a:latin typeface="Microsoft YaHei"/>
                <a:ea typeface="Microsoft YaHei"/>
                <a:cs typeface="Microsoft YaHei"/>
              </a:rPr>
              <a:t>PR排名：LEAD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AE47B53-6182-4989-AA7B-8D1ABEE30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38225"/>
            <a:ext cx="1066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75654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756545"/>
                </a:solidFill>
                <a:latin typeface="Microsoft YaHei"/>
                <a:ea typeface="Microsoft YaHei"/>
                <a:cs typeface="Microsoft YaHei"/>
              </a:rPr>
              <a:t>示例景点圈A  1 / 1  每页最多8人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C7433F6-C581-4712-9828-A6A04E368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53175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75654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756545"/>
                </a:solidFill>
                <a:latin typeface="Microsoft YaHei"/>
                <a:ea typeface="Microsoft YaHei"/>
                <a:cs typeface="Microsoft YaHei"/>
              </a:rPr>
              <a:t>示例数据 / 非正式报告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13EAA4B-314B-482E-8474-B4214D394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53175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75654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756545"/>
                </a:solidFill>
                <a:latin typeface="Microsoft YaHei"/>
                <a:ea typeface="Microsoft YaHei"/>
                <a:cs typeface="Microsoft YaHei"/>
              </a:rPr>
              <a:t>14</a:t>
            </a:r>
          </a:p>
        </p:txBody>
      </p:sp>
      <p:graphicFrame>
        <p:nvGraphicFramePr>
          <p:cNvPr id="11" name=""/>
          <p:cNvGraphicFramePr/>
          <p:nvPr/>
        </p:nvGraphicFramePr>
        <p:xfrm>
          <a:off xmlns:a="http://schemas.openxmlformats.org/drawingml/2006/main" x="609600" y="1638300"/>
          <a:ext xmlns:a="http://schemas.openxmlformats.org/drawingml/2006/main" cx="10972800" cy="4095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762000"/>
                <a:gridCol w="2095500"/>
                <a:gridCol w="1524000"/>
                <a:gridCol w="1571625"/>
                <a:gridCol w="1666875"/>
                <a:gridCol w="1666875"/>
                <a:gridCol w="1685925"/>
              </a:tblGrid>
              <a:tr h="455083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排名</a:t>
                      </a:r>
                    </a:p>
                  </a:txBody>
                  <a:tcPr marL="91440" marR="91440" marT="45720" marB="45720">
                    <a:solidFill>
                      <a:srgbClr val="775B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员工</a:t>
                      </a:r>
                    </a:p>
                  </a:txBody>
                  <a:tcPr marL="91440" marR="91440" marT="45720" marB="45720">
                    <a:solidFill>
                      <a:srgbClr val="775B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工号</a:t>
                      </a:r>
                    </a:p>
                  </a:txBody>
                  <a:tcPr marL="91440" marR="91440" marT="45720" marB="45720">
                    <a:solidFill>
                      <a:srgbClr val="775B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加分</a:t>
                      </a:r>
                    </a:p>
                  </a:txBody>
                  <a:tcPr marL="91440" marR="91440" marT="45720" marB="45720">
                    <a:solidFill>
                      <a:srgbClr val="775B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实际扣分</a:t>
                      </a:r>
                    </a:p>
                  </a:txBody>
                  <a:tcPr marL="91440" marR="91440" marT="45720" marB="45720">
                    <a:solidFill>
                      <a:srgbClr val="775B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全勤分</a:t>
                      </a:r>
                    </a:p>
                  </a:txBody>
                  <a:tcPr marL="91440" marR="91440" marT="45720" marB="45720">
                    <a:solidFill>
                      <a:srgbClr val="775B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综合分</a:t>
                      </a:r>
                    </a:p>
                  </a:txBody>
                  <a:tcPr marL="91440" marR="91440" marT="45720" marB="45720">
                    <a:solidFill>
                      <a:srgbClr val="775B24"/>
                    </a:solidFill>
                  </a:tcPr>
                </a:tc>
              </a:tr>
              <a:tr h="455083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</a:t>
                      </a:r>
                    </a:p>
                  </a:txBody>
                  <a:tcPr marL="91440" marR="91440" marT="45720" marB="45720">
                    <a:solidFill>
                      <a:srgbClr val="FFFC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示例员工01</a:t>
                      </a:r>
                    </a:p>
                  </a:txBody>
                  <a:tcPr marL="91440" marR="91440" marT="45720" marB="45720">
                    <a:solidFill>
                      <a:srgbClr val="FFFC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9000001</a:t>
                      </a:r>
                    </a:p>
                  </a:txBody>
                  <a:tcPr marL="91440" marR="91440" marT="45720" marB="45720">
                    <a:solidFill>
                      <a:srgbClr val="FFFC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8.00</a:t>
                      </a:r>
                    </a:p>
                  </a:txBody>
                  <a:tcPr marL="91440" marR="91440" marT="45720" marB="45720">
                    <a:solidFill>
                      <a:srgbClr val="FFFC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0.00</a:t>
                      </a:r>
                    </a:p>
                  </a:txBody>
                  <a:tcPr marL="91440" marR="91440" marT="45720" marB="45720">
                    <a:solidFill>
                      <a:srgbClr val="FFFC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12.00</a:t>
                      </a:r>
                    </a:p>
                  </a:txBody>
                  <a:tcPr marL="91440" marR="91440" marT="45720" marB="45720">
                    <a:solidFill>
                      <a:srgbClr val="FFFC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20.00</a:t>
                      </a:r>
                    </a:p>
                  </a:txBody>
                  <a:tcPr marL="91440" marR="91440" marT="45720" marB="45720">
                    <a:solidFill>
                      <a:srgbClr val="FFFCF4"/>
                    </a:solidFill>
                  </a:tcPr>
                </a:tc>
              </a:tr>
              <a:tr h="455083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</a:t>
                      </a:r>
                    </a:p>
                  </a:txBody>
                  <a:tcPr marL="91440" marR="91440" marT="45720" marB="45720">
                    <a:solidFill>
                      <a:srgbClr val="F4EDD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示例员工02</a:t>
                      </a:r>
                    </a:p>
                  </a:txBody>
                  <a:tcPr marL="91440" marR="91440" marT="45720" marB="45720">
                    <a:solidFill>
                      <a:srgbClr val="F4EDD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9000002</a:t>
                      </a:r>
                    </a:p>
                  </a:txBody>
                  <a:tcPr marL="91440" marR="91440" marT="45720" marB="45720">
                    <a:solidFill>
                      <a:srgbClr val="F4EDD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7.70</a:t>
                      </a:r>
                    </a:p>
                  </a:txBody>
                  <a:tcPr marL="91440" marR="91440" marT="45720" marB="45720">
                    <a:solidFill>
                      <a:srgbClr val="F4EDD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0.00</a:t>
                      </a:r>
                    </a:p>
                  </a:txBody>
                  <a:tcPr marL="91440" marR="91440" marT="45720" marB="45720">
                    <a:solidFill>
                      <a:srgbClr val="F4EDD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12.00</a:t>
                      </a:r>
                    </a:p>
                  </a:txBody>
                  <a:tcPr marL="91440" marR="91440" marT="45720" marB="45720">
                    <a:solidFill>
                      <a:srgbClr val="F4EDD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19.70</a:t>
                      </a:r>
                    </a:p>
                  </a:txBody>
                  <a:tcPr marL="91440" marR="91440" marT="45720" marB="45720">
                    <a:solidFill>
                      <a:srgbClr val="F4EDD8"/>
                    </a:solidFill>
                  </a:tcPr>
                </a:tc>
              </a:tr>
              <a:tr h="455083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</a:t>
                      </a:r>
                    </a:p>
                  </a:txBody>
                  <a:tcPr marL="91440" marR="91440" marT="45720" marB="45720">
                    <a:solidFill>
                      <a:srgbClr val="FFFC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示例员工03</a:t>
                      </a:r>
                    </a:p>
                  </a:txBody>
                  <a:tcPr marL="91440" marR="91440" marT="45720" marB="45720">
                    <a:solidFill>
                      <a:srgbClr val="FFFC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9000003</a:t>
                      </a:r>
                    </a:p>
                  </a:txBody>
                  <a:tcPr marL="91440" marR="91440" marT="45720" marB="45720">
                    <a:solidFill>
                      <a:srgbClr val="FFFC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7.40</a:t>
                      </a:r>
                    </a:p>
                  </a:txBody>
                  <a:tcPr marL="91440" marR="91440" marT="45720" marB="45720">
                    <a:solidFill>
                      <a:srgbClr val="FFFC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0.00</a:t>
                      </a:r>
                    </a:p>
                  </a:txBody>
                  <a:tcPr marL="91440" marR="91440" marT="45720" marB="45720">
                    <a:solidFill>
                      <a:srgbClr val="FFFC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12.00</a:t>
                      </a:r>
                    </a:p>
                  </a:txBody>
                  <a:tcPr marL="91440" marR="91440" marT="45720" marB="45720">
                    <a:solidFill>
                      <a:srgbClr val="FFFC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19.40</a:t>
                      </a:r>
                    </a:p>
                  </a:txBody>
                  <a:tcPr marL="91440" marR="91440" marT="45720" marB="45720">
                    <a:solidFill>
                      <a:srgbClr val="FFFCF4"/>
                    </a:solidFill>
                  </a:tcPr>
                </a:tc>
              </a:tr>
              <a:tr h="455083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</a:t>
                      </a:r>
                    </a:p>
                  </a:txBody>
                  <a:tcPr marL="91440" marR="91440" marT="45720" marB="45720">
                    <a:solidFill>
                      <a:srgbClr val="F4EDD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示例员工04</a:t>
                      </a:r>
                    </a:p>
                  </a:txBody>
                  <a:tcPr marL="91440" marR="91440" marT="45720" marB="45720">
                    <a:solidFill>
                      <a:srgbClr val="F4EDD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9000004</a:t>
                      </a:r>
                    </a:p>
                  </a:txBody>
                  <a:tcPr marL="91440" marR="91440" marT="45720" marB="45720">
                    <a:solidFill>
                      <a:srgbClr val="F4EDD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7.10</a:t>
                      </a:r>
                    </a:p>
                  </a:txBody>
                  <a:tcPr marL="91440" marR="91440" marT="45720" marB="45720">
                    <a:solidFill>
                      <a:srgbClr val="F4EDD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0.00</a:t>
                      </a:r>
                    </a:p>
                  </a:txBody>
                  <a:tcPr marL="91440" marR="91440" marT="45720" marB="45720">
                    <a:solidFill>
                      <a:srgbClr val="F4EDD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12.00</a:t>
                      </a:r>
                    </a:p>
                  </a:txBody>
                  <a:tcPr marL="91440" marR="91440" marT="45720" marB="45720">
                    <a:solidFill>
                      <a:srgbClr val="F4EDD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19.10</a:t>
                      </a:r>
                    </a:p>
                  </a:txBody>
                  <a:tcPr marL="91440" marR="91440" marT="45720" marB="45720">
                    <a:solidFill>
                      <a:srgbClr val="F4EDD8"/>
                    </a:solidFill>
                  </a:tcPr>
                </a:tc>
              </a:tr>
              <a:tr h="455083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</a:t>
                      </a:r>
                    </a:p>
                  </a:txBody>
                  <a:tcPr marL="91440" marR="91440" marT="45720" marB="45720">
                    <a:solidFill>
                      <a:srgbClr val="FFFC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示例员工05</a:t>
                      </a:r>
                    </a:p>
                  </a:txBody>
                  <a:tcPr marL="91440" marR="91440" marT="45720" marB="45720">
                    <a:solidFill>
                      <a:srgbClr val="FFFC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9000005</a:t>
                      </a:r>
                    </a:p>
                  </a:txBody>
                  <a:tcPr marL="91440" marR="91440" marT="45720" marB="45720">
                    <a:solidFill>
                      <a:srgbClr val="FFFC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6.80</a:t>
                      </a:r>
                    </a:p>
                  </a:txBody>
                  <a:tcPr marL="91440" marR="91440" marT="45720" marB="45720">
                    <a:solidFill>
                      <a:srgbClr val="FFFC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0.00</a:t>
                      </a:r>
                    </a:p>
                  </a:txBody>
                  <a:tcPr marL="91440" marR="91440" marT="45720" marB="45720">
                    <a:solidFill>
                      <a:srgbClr val="FFFC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12.00</a:t>
                      </a:r>
                    </a:p>
                  </a:txBody>
                  <a:tcPr marL="91440" marR="91440" marT="45720" marB="45720">
                    <a:solidFill>
                      <a:srgbClr val="FFFC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18.80</a:t>
                      </a:r>
                    </a:p>
                  </a:txBody>
                  <a:tcPr marL="91440" marR="91440" marT="45720" marB="45720">
                    <a:solidFill>
                      <a:srgbClr val="FFFCF4"/>
                    </a:solidFill>
                  </a:tcPr>
                </a:tc>
              </a:tr>
              <a:tr h="455083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</a:t>
                      </a:r>
                    </a:p>
                  </a:txBody>
                  <a:tcPr marL="91440" marR="91440" marT="45720" marB="45720">
                    <a:solidFill>
                      <a:srgbClr val="F4EDD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示例员工06</a:t>
                      </a:r>
                    </a:p>
                  </a:txBody>
                  <a:tcPr marL="91440" marR="91440" marT="45720" marB="45720">
                    <a:solidFill>
                      <a:srgbClr val="F4EDD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9000006</a:t>
                      </a:r>
                    </a:p>
                  </a:txBody>
                  <a:tcPr marL="91440" marR="91440" marT="45720" marB="45720">
                    <a:solidFill>
                      <a:srgbClr val="F4EDD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6.50</a:t>
                      </a:r>
                    </a:p>
                  </a:txBody>
                  <a:tcPr marL="91440" marR="91440" marT="45720" marB="45720">
                    <a:solidFill>
                      <a:srgbClr val="F4EDD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0.00</a:t>
                      </a:r>
                    </a:p>
                  </a:txBody>
                  <a:tcPr marL="91440" marR="91440" marT="45720" marB="45720">
                    <a:solidFill>
                      <a:srgbClr val="F4EDD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12.00</a:t>
                      </a:r>
                    </a:p>
                  </a:txBody>
                  <a:tcPr marL="91440" marR="91440" marT="45720" marB="45720">
                    <a:solidFill>
                      <a:srgbClr val="F4EDD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18.50</a:t>
                      </a:r>
                    </a:p>
                  </a:txBody>
                  <a:tcPr marL="91440" marR="91440" marT="45720" marB="45720">
                    <a:solidFill>
                      <a:srgbClr val="F4EDD8"/>
                    </a:solidFill>
                  </a:tcPr>
                </a:tc>
              </a:tr>
              <a:tr h="455083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</a:t>
                      </a:r>
                    </a:p>
                  </a:txBody>
                  <a:tcPr marL="91440" marR="91440" marT="45720" marB="45720">
                    <a:solidFill>
                      <a:srgbClr val="FFFC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示例员工07</a:t>
                      </a:r>
                    </a:p>
                  </a:txBody>
                  <a:tcPr marL="91440" marR="91440" marT="45720" marB="45720">
                    <a:solidFill>
                      <a:srgbClr val="FFFC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9000007</a:t>
                      </a:r>
                    </a:p>
                  </a:txBody>
                  <a:tcPr marL="91440" marR="91440" marT="45720" marB="45720">
                    <a:solidFill>
                      <a:srgbClr val="FFFC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6.20</a:t>
                      </a:r>
                    </a:p>
                  </a:txBody>
                  <a:tcPr marL="91440" marR="91440" marT="45720" marB="45720">
                    <a:solidFill>
                      <a:srgbClr val="FFFC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0.00</a:t>
                      </a:r>
                    </a:p>
                  </a:txBody>
                  <a:tcPr marL="91440" marR="91440" marT="45720" marB="45720">
                    <a:solidFill>
                      <a:srgbClr val="FFFC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12.00</a:t>
                      </a:r>
                    </a:p>
                  </a:txBody>
                  <a:tcPr marL="91440" marR="91440" marT="45720" marB="45720">
                    <a:solidFill>
                      <a:srgbClr val="FFFC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18.20</a:t>
                      </a:r>
                    </a:p>
                  </a:txBody>
                  <a:tcPr marL="91440" marR="91440" marT="45720" marB="45720">
                    <a:solidFill>
                      <a:srgbClr val="FFFCF4"/>
                    </a:solidFill>
                  </a:tcPr>
                </a:tc>
              </a:tr>
              <a:tr h="455083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</a:t>
                      </a:r>
                    </a:p>
                  </a:txBody>
                  <a:tcPr marL="91440" marR="91440" marT="45720" marB="45720">
                    <a:solidFill>
                      <a:srgbClr val="F4EDD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示例员工08</a:t>
                      </a:r>
                    </a:p>
                  </a:txBody>
                  <a:tcPr marL="91440" marR="91440" marT="45720" marB="45720">
                    <a:solidFill>
                      <a:srgbClr val="F4EDD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9000008</a:t>
                      </a:r>
                    </a:p>
                  </a:txBody>
                  <a:tcPr marL="91440" marR="91440" marT="45720" marB="45720">
                    <a:solidFill>
                      <a:srgbClr val="F4EDD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5.90</a:t>
                      </a:r>
                    </a:p>
                  </a:txBody>
                  <a:tcPr marL="91440" marR="91440" marT="45720" marB="45720">
                    <a:solidFill>
                      <a:srgbClr val="F4EDD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0.00</a:t>
                      </a:r>
                    </a:p>
                  </a:txBody>
                  <a:tcPr marL="91440" marR="91440" marT="45720" marB="45720">
                    <a:solidFill>
                      <a:srgbClr val="F4EDD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12.00</a:t>
                      </a:r>
                    </a:p>
                  </a:txBody>
                  <a:tcPr marL="91440" marR="91440" marT="45720" marB="45720">
                    <a:solidFill>
                      <a:srgbClr val="F4EDD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17.90</a:t>
                      </a:r>
                    </a:p>
                  </a:txBody>
                  <a:tcPr marL="91440" marR="91440" marT="45720" marB="45720">
                    <a:solidFill>
                      <a:srgbClr val="F4EDD8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DECA15A-E976-4405-A918-26A8CB5F2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763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75654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756545"/>
                </a:solidFill>
                <a:latin typeface="Microsoft YaHei"/>
                <a:ea typeface="Microsoft YaHei"/>
                <a:cs typeface="Microsoft YaHei"/>
              </a:rPr>
              <a:t>LOA排除计分，排名及分值复用系统正式口径。</a:t>
            </a:r>
          </a:p>
        </p:txBody>
      </p:sp>
    </p:spTree>
    <p:extLst>
      <p:ext uri="{BB962C8B-B14F-4D97-AF65-F5344CB8AC3E}">
        <p14:creationId xmlns:p14="http://schemas.microsoft.com/office/powerpoint/2010/main" val="552306516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C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A086A69-6C46-46A2-8A2A-36825F457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775B2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775B24"/>
                </a:solidFill>
                <a:latin typeface="Microsoft YaHei"/>
                <a:ea typeface="Microsoft YaHei"/>
                <a:cs typeface="Microsoft YaHei"/>
              </a:rPr>
              <a:t>月度工作与规则说明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21DB042-0164-404E-A94C-67E866700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38225"/>
            <a:ext cx="1066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75654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756545"/>
                </a:solidFill>
                <a:latin typeface="Microsoft YaHei"/>
                <a:ea typeface="Microsoft YaHei"/>
                <a:cs typeface="Microsoft YaHei"/>
              </a:rPr>
              <a:t>人工补充章节  无内容时隐藏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E45BAFD-4F94-4B46-8162-2A3214D2A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53175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75654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756545"/>
                </a:solidFill>
                <a:latin typeface="Microsoft YaHei"/>
                <a:ea typeface="Microsoft YaHei"/>
                <a:cs typeface="Microsoft YaHei"/>
              </a:rPr>
              <a:t>示例数据 / 非正式报告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E65A99-19D1-4B85-85BD-D0AD57765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53175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75654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756545"/>
                </a:solidFill>
                <a:latin typeface="Microsoft YaHei"/>
                <a:ea typeface="Microsoft YaHei"/>
                <a:cs typeface="Microsoft YaHei"/>
              </a:rPr>
              <a:t>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A78BCF8-F698-4412-BE01-74CA1CEA6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05000"/>
            <a:ext cx="10572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75" b="1">
                <a:solidFill>
                  <a:srgbClr val="1755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1">
                <a:solidFill>
                  <a:srgbClr val="175540"/>
                </a:solidFill>
                <a:latin typeface="Microsoft YaHei"/>
                <a:ea typeface="Microsoft YaHei"/>
                <a:cs typeface="Microsoft YaHei"/>
              </a:rPr>
              <a:t>本月工作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A8320E1-C028-4D18-9E61-61D479C37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62225"/>
            <a:ext cx="10668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755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175540"/>
                </a:solidFill>
                <a:latin typeface="Microsoft YaHei"/>
                <a:ea typeface="Microsoft YaHei"/>
                <a:cs typeface="Microsoft YaHei"/>
              </a:rPr>
              <a:t>在此填写实际工作说明、适用范围及完成情况。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D3CB2B2-BE87-45E6-AD53-F200BBFC3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05225"/>
            <a:ext cx="10572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75" b="1">
                <a:solidFill>
                  <a:srgbClr val="1755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1">
                <a:solidFill>
                  <a:srgbClr val="175540"/>
                </a:solidFill>
                <a:latin typeface="Microsoft YaHei"/>
                <a:ea typeface="Microsoft YaHei"/>
                <a:cs typeface="Microsoft YaHei"/>
              </a:rPr>
              <a:t>规则说明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5E97BF5-6F5E-4864-A91E-7838FB168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62450"/>
            <a:ext cx="10668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755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175540"/>
                </a:solidFill>
                <a:latin typeface="Microsoft YaHei"/>
                <a:ea typeface="Microsoft YaHei"/>
                <a:cs typeface="Microsoft YaHei"/>
              </a:rPr>
              <a:t>在此填写已确认的规则变更及生效日期。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1067686-3CD4-46C5-A5E3-628EC57D1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05450"/>
            <a:ext cx="1066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75654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756545"/>
                </a:solidFill>
                <a:latin typeface="Microsoft YaHei"/>
                <a:ea typeface="Microsoft YaHei"/>
                <a:cs typeface="Microsoft YaHei"/>
              </a:rPr>
              <a:t>该章节不作为新增业务规则的数据来源。</a:t>
            </a:r>
          </a:p>
        </p:txBody>
      </p:sp>
    </p:spTree>
    <p:extLst>
      <p:ext uri="{BB962C8B-B14F-4D97-AF65-F5344CB8AC3E}">
        <p14:creationId xmlns:p14="http://schemas.microsoft.com/office/powerpoint/2010/main" val="1048542269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C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9E76C0C-3407-4144-994A-E319254B5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775B2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775B24"/>
                </a:solidFill>
                <a:latin typeface="Microsoft YaHei"/>
                <a:ea typeface="Microsoft YaHei"/>
                <a:cs typeface="Microsoft YaHei"/>
              </a:rPr>
              <a:t>团队活动：单张大图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36098F5-E3B9-42C1-981B-6D64F59E1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38225"/>
            <a:ext cx="1066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75654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756545"/>
                </a:solidFill>
                <a:latin typeface="Microsoft YaHei"/>
                <a:ea typeface="Microsoft YaHei"/>
                <a:cs typeface="Microsoft YaHei"/>
              </a:rPr>
              <a:t>照片及活动说明由使用者提供  未上传时跳过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A24D088-873B-47B7-9CD6-963094556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53175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75654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756545"/>
                </a:solidFill>
                <a:latin typeface="Microsoft YaHei"/>
                <a:ea typeface="Microsoft YaHei"/>
                <a:cs typeface="Microsoft YaHei"/>
              </a:rPr>
              <a:t>示例数据 / 非正式报告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87A9AA9-7F21-47FB-83A0-4500DFE6F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53175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75654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756545"/>
                </a:solidFill>
                <a:latin typeface="Microsoft YaHei"/>
                <a:ea typeface="Microsoft YaHei"/>
                <a:cs typeface="Microsoft YaHei"/>
              </a:rPr>
              <a:t>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41DD46D-6DAA-41ED-A2F3-539BA614D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14500"/>
            <a:ext cx="8001000" cy="385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EC"/>
          </a:solidFill>
          <a:ln xmlns:a="http://schemas.openxmlformats.org/drawingml/2006/main" w="9525">
            <a:solidFill>
              <a:srgbClr val="91B7A0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F85D080-61E1-4EA8-AB15-1991BF6AF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452813"/>
            <a:ext cx="7620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75654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756545"/>
                </a:solidFill>
                <a:latin typeface="Microsoft YaHei"/>
                <a:ea typeface="Microsoft YaHei"/>
                <a:cs typeface="Microsoft YaHei"/>
              </a:rPr>
              <a:t>照片插入区 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DC62EC8-144B-4EA8-9824-081192C4A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3975" y="1800225"/>
            <a:ext cx="26003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755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175540"/>
                </a:solidFill>
                <a:latin typeface="Microsoft YaHei"/>
                <a:ea typeface="Microsoft YaHei"/>
                <a:cs typeface="Microsoft YaHei"/>
              </a:rPr>
              <a:t>活动名称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B01848D-69F2-4C43-B856-702C50B9D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3975" y="2428875"/>
            <a:ext cx="25527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755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175540"/>
                </a:solidFill>
                <a:latin typeface="Microsoft YaHei"/>
                <a:ea typeface="Microsoft YaHei"/>
                <a:cs typeface="Microsoft YaHei"/>
              </a:rPr>
              <a:t>日期、地点与简短活动说明</a:t>
            </a:r>
          </a:p>
        </p:txBody>
      </p:sp>
    </p:spTree>
    <p:extLst>
      <p:ext uri="{BB962C8B-B14F-4D97-AF65-F5344CB8AC3E}">
        <p14:creationId xmlns:p14="http://schemas.microsoft.com/office/powerpoint/2010/main" val="29457485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C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C2239D7-2739-48EF-A1E0-F3F298B7F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775B2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775B24"/>
                </a:solidFill>
                <a:latin typeface="Microsoft YaHei"/>
                <a:ea typeface="Microsoft YaHei"/>
                <a:cs typeface="Microsoft YaHei"/>
              </a:rPr>
              <a:t>团队活动：双图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915116-054F-4264-9E3E-FE9A41C88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38225"/>
            <a:ext cx="1066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75654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756545"/>
                </a:solidFill>
                <a:latin typeface="Microsoft YaHei"/>
                <a:ea typeface="Microsoft YaHei"/>
                <a:cs typeface="Microsoft YaHei"/>
              </a:rPr>
              <a:t>照片及活动说明由使用者提供  未上传时跳过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5A64DB9-B174-461E-9584-E0D3F2E15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53175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75654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756545"/>
                </a:solidFill>
                <a:latin typeface="Microsoft YaHei"/>
                <a:ea typeface="Microsoft YaHei"/>
                <a:cs typeface="Microsoft YaHei"/>
              </a:rPr>
              <a:t>示例数据 / 非正式报告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34AEFDA-852B-4D41-97EC-85D58714F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53175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75654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756545"/>
                </a:solidFill>
                <a:latin typeface="Microsoft YaHei"/>
                <a:ea typeface="Microsoft YaHei"/>
                <a:cs typeface="Microsoft YaHei"/>
              </a:rPr>
              <a:t>17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F446171-5A0E-4CD6-ADFA-774BAC91B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14500"/>
            <a:ext cx="5334000" cy="3476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EC"/>
          </a:solidFill>
          <a:ln xmlns:a="http://schemas.openxmlformats.org/drawingml/2006/main" w="9525">
            <a:solidFill>
              <a:srgbClr val="91B7A0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486FEB-45E2-453A-9E1C-78FCFBCAA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262313"/>
            <a:ext cx="4953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75654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756545"/>
                </a:solidFill>
                <a:latin typeface="Microsoft YaHei"/>
                <a:ea typeface="Microsoft YaHei"/>
                <a:cs typeface="Microsoft YaHei"/>
              </a:rPr>
              <a:t>照片插入区 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0C71260-06A4-418C-82A4-E9B30841B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714500"/>
            <a:ext cx="5334000" cy="3476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EC"/>
          </a:solidFill>
          <a:ln xmlns:a="http://schemas.openxmlformats.org/drawingml/2006/main" w="9525">
            <a:solidFill>
              <a:srgbClr val="91B7A0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0FDEF14-51EA-4130-BA04-DEBA2525F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262313"/>
            <a:ext cx="4953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75654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756545"/>
                </a:solidFill>
                <a:latin typeface="Microsoft YaHei"/>
                <a:ea typeface="Microsoft YaHei"/>
                <a:cs typeface="Microsoft YaHei"/>
              </a:rPr>
              <a:t>照片插入区 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B31E5DF-64F3-4AF5-8018-85A041A5F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572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1755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175540"/>
                </a:solidFill>
                <a:latin typeface="Microsoft YaHei"/>
                <a:ea typeface="Microsoft YaHei"/>
                <a:cs typeface="Microsoft YaHei"/>
              </a:rPr>
              <a:t>活动名称、日期与说明</a:t>
            </a:r>
          </a:p>
        </p:txBody>
      </p:sp>
    </p:spTree>
    <p:extLst>
      <p:ext uri="{BB962C8B-B14F-4D97-AF65-F5344CB8AC3E}">
        <p14:creationId xmlns:p14="http://schemas.microsoft.com/office/powerpoint/2010/main" val="73619481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C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4A9D2BF-7FA9-4C6D-88E4-5F14DCA09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775B2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775B24"/>
                </a:solidFill>
                <a:latin typeface="Microsoft YaHei"/>
                <a:ea typeface="Microsoft YaHei"/>
                <a:cs typeface="Microsoft YaHei"/>
              </a:rPr>
              <a:t>团队活动：四图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8D8DFFC-C851-4FC3-AA3C-00A46B1F5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38225"/>
            <a:ext cx="1066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75654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756545"/>
                </a:solidFill>
                <a:latin typeface="Microsoft YaHei"/>
                <a:ea typeface="Microsoft YaHei"/>
                <a:cs typeface="Microsoft YaHei"/>
              </a:rPr>
              <a:t>照片及活动说明由使用者提供  未上传时跳过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6558E6B-89A1-435D-B629-CCD18DE93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53175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75654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756545"/>
                </a:solidFill>
                <a:latin typeface="Microsoft YaHei"/>
                <a:ea typeface="Microsoft YaHei"/>
                <a:cs typeface="Microsoft YaHei"/>
              </a:rPr>
              <a:t>示例数据 / 非正式报告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41BD174-C24C-4C72-A441-35139AE89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53175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75654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756545"/>
                </a:solidFill>
                <a:latin typeface="Microsoft YaHei"/>
                <a:ea typeface="Microsoft YaHei"/>
                <a:cs typeface="Microsoft YaHei"/>
              </a:rPr>
              <a:t>18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77A7964-C45B-4C37-8245-DA46FBEB6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14500"/>
            <a:ext cx="52387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EC"/>
          </a:solidFill>
          <a:ln xmlns:a="http://schemas.openxmlformats.org/drawingml/2006/main" w="9525">
            <a:solidFill>
              <a:srgbClr val="91B7A0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4A26FD9-3DDE-46BC-A3EE-F68E4B1CA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428875"/>
            <a:ext cx="4857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75654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756545"/>
                </a:solidFill>
                <a:latin typeface="Microsoft YaHei"/>
                <a:ea typeface="Microsoft YaHei"/>
                <a:cs typeface="Microsoft YaHei"/>
              </a:rPr>
              <a:t>照片插入区 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B32CE96-4356-4963-8219-F5C071A06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1714500"/>
            <a:ext cx="52387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EC"/>
          </a:solidFill>
          <a:ln xmlns:a="http://schemas.openxmlformats.org/drawingml/2006/main" w="9525">
            <a:solidFill>
              <a:srgbClr val="91B7A0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74ADEAC-964C-45DB-B164-2372DCD99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428875"/>
            <a:ext cx="4857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75654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756545"/>
                </a:solidFill>
                <a:latin typeface="Microsoft YaHei"/>
                <a:ea typeface="Microsoft YaHei"/>
                <a:cs typeface="Microsoft YaHei"/>
              </a:rPr>
              <a:t>照片插入区 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91280C5-3FDF-4079-B76C-6453FA50B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81425"/>
            <a:ext cx="52387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EC"/>
          </a:solidFill>
          <a:ln xmlns:a="http://schemas.openxmlformats.org/drawingml/2006/main" w="9525">
            <a:solidFill>
              <a:srgbClr val="91B7A0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C67A97F-7B66-48AC-8E4B-A7847A17A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495800"/>
            <a:ext cx="4857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75654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756545"/>
                </a:solidFill>
                <a:latin typeface="Microsoft YaHei"/>
                <a:ea typeface="Microsoft YaHei"/>
                <a:cs typeface="Microsoft YaHei"/>
              </a:rPr>
              <a:t>照片插入区 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4FC199D-2F31-4034-8354-ED11D8CEC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781425"/>
            <a:ext cx="52387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EC"/>
          </a:solidFill>
          <a:ln xmlns:a="http://schemas.openxmlformats.org/drawingml/2006/main" w="9525">
            <a:solidFill>
              <a:srgbClr val="91B7A0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6862030-CF65-40C2-BAF7-045F934D7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495800"/>
            <a:ext cx="4857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75654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756545"/>
                </a:solidFill>
                <a:latin typeface="Microsoft YaHei"/>
                <a:ea typeface="Microsoft YaHei"/>
                <a:cs typeface="Microsoft YaHei"/>
              </a:rPr>
              <a:t>照片插入区 4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A0972B5-DFE5-4788-86B8-0B14CB113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572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1755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175540"/>
                </a:solidFill>
                <a:latin typeface="Microsoft YaHei"/>
                <a:ea typeface="Microsoft YaHei"/>
                <a:cs typeface="Microsoft YaHei"/>
              </a:rPr>
              <a:t>活动名称、日期与说明</a:t>
            </a:r>
          </a:p>
        </p:txBody>
      </p:sp>
    </p:spTree>
    <p:extLst>
      <p:ext uri="{BB962C8B-B14F-4D97-AF65-F5344CB8AC3E}">
        <p14:creationId xmlns:p14="http://schemas.microsoft.com/office/powerpoint/2010/main" val="1834610385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C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741BB19-C36E-429B-A370-FF91A9110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775B2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775B24"/>
                </a:solidFill>
                <a:latin typeface="Microsoft YaHei"/>
                <a:ea typeface="Microsoft YaHei"/>
                <a:cs typeface="Microsoft YaHei"/>
              </a:rPr>
              <a:t>生日祝福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BD3981C-689B-4333-BA76-BB630F2DA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38225"/>
            <a:ext cx="1066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75654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756545"/>
                </a:solidFill>
                <a:latin typeface="Microsoft YaHei"/>
                <a:ea typeface="Microsoft YaHei"/>
                <a:cs typeface="Microsoft YaHei"/>
              </a:rPr>
              <a:t>人员名单与生日素材由使用者提供  未提供时隐藏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B14C61A-631E-4EFB-AE36-115BA9721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53175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75654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756545"/>
                </a:solidFill>
                <a:latin typeface="Microsoft YaHei"/>
                <a:ea typeface="Microsoft YaHei"/>
                <a:cs typeface="Microsoft YaHei"/>
              </a:rPr>
              <a:t>示例数据 / 非正式报告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0A6713D-8A51-46EC-B304-2509FA056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53175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75654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756545"/>
                </a:solidFill>
                <a:latin typeface="Microsoft YaHei"/>
                <a:ea typeface="Microsoft YaHei"/>
                <a:cs typeface="Microsoft YaHei"/>
              </a:rPr>
              <a:t>19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7614DED-3D9B-49B1-8EDB-03DADE004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14550"/>
            <a:ext cx="10668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755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175540"/>
                </a:solidFill>
                <a:latin typeface="Microsoft YaHei"/>
                <a:ea typeface="Microsoft YaHei"/>
                <a:cs typeface="Microsoft YaHei"/>
              </a:rPr>
              <a:t>祝本月生日伙伴生日快乐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C62070-501C-416D-8789-761F5D436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33775"/>
            <a:ext cx="10572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55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75540"/>
                </a:solidFill>
                <a:latin typeface="Microsoft YaHei"/>
                <a:ea typeface="Microsoft YaHei"/>
                <a:cs typeface="Microsoft YaHei"/>
              </a:rPr>
              <a:t>在此插入经授权的生日名单、照片与祝福内容。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029D17D-04C7-4E7A-B8E3-AAD0B7153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14925"/>
            <a:ext cx="10477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75654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756545"/>
                </a:solidFill>
                <a:latin typeface="Microsoft YaHei"/>
                <a:ea typeface="Microsoft YaHei"/>
                <a:cs typeface="Microsoft YaHei"/>
              </a:rPr>
              <a:t>系统当前未提供生日字段，不自动推测。</a:t>
            </a:r>
          </a:p>
        </p:txBody>
      </p:sp>
    </p:spTree>
    <p:extLst>
      <p:ext uri="{BB962C8B-B14F-4D97-AF65-F5344CB8AC3E}">
        <p14:creationId xmlns:p14="http://schemas.microsoft.com/office/powerpoint/2010/main" val="221109448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C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ba2a3aa891445f4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FFF20E2-53C2-4E50-B13F-9FEB4DD2C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466850"/>
            <a:ext cx="9048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575" b="1">
                <a:solidFill>
                  <a:srgbClr val="1755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575" b="1">
                <a:solidFill>
                  <a:srgbClr val="175540"/>
                </a:solidFill>
                <a:latin typeface="Microsoft YaHei"/>
                <a:ea typeface="Microsoft YaHei"/>
                <a:cs typeface="Microsoft YaHei"/>
              </a:rPr>
              <a:t>感谢每一位伙伴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1D62513-02AB-45D2-BF94-31CB2E4A2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76525"/>
            <a:ext cx="8572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1755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0">
                <a:solidFill>
                  <a:srgbClr val="175540"/>
                </a:solidFill>
                <a:latin typeface="Microsoft YaHei"/>
                <a:ea typeface="Microsoft YaHei"/>
                <a:cs typeface="Microsoft YaHei"/>
              </a:rPr>
              <a:t>一起记录认可，共同成长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673811-0E99-4491-9A78-B68C70A8A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95700"/>
            <a:ext cx="7048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75654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756545"/>
                </a:solidFill>
                <a:latin typeface="Microsoft YaHei"/>
                <a:ea typeface="Microsoft YaHei"/>
                <a:cs typeface="Microsoft YaHei"/>
              </a:rPr>
              <a:t>Forest &amp; Zootopia</a:t>
            </a:r>
          </a:p>
        </p:txBody>
      </p:sp>
    </p:spTree>
    <p:extLst>
      <p:ext uri="{BB962C8B-B14F-4D97-AF65-F5344CB8AC3E}">
        <p14:creationId xmlns:p14="http://schemas.microsoft.com/office/powerpoint/2010/main" val="119418247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2026-09-26T18:32:09.3750000Z</dcterms:created>
  <dcterms:modified xsi:type="dcterms:W3CDTF">2026-09-26T18:32:09.3750000Z</dcterms:modified>
</coreProperties>
</file>