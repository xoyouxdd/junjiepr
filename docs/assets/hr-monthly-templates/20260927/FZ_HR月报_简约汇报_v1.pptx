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453a53660e4cb6" /><Relationship Type="http://schemas.openxmlformats.org/officeDocument/2006/relationships/extended-properties" Target="/docProps/app.xml" Id="R684070aea6cc4a29" /><Relationship Type="http://schemas.openxmlformats.org/officeDocument/2006/relationships/officeDocument" Target="/ppt/presentation.xml" Id="Rab6fdd4d56124a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a3adc388404f24"/>
  </p:sldMasterIdLst>
  <p:notesMasterIdLst>
    <p:notesMasterId xmlns:r="http://schemas.openxmlformats.org/officeDocument/2006/relationships" r:id="Rac0b528f0bac41bf"/>
  </p:notesMasterIdLst>
  <p:sldIdLst>
    <p:sldId xmlns:r="http://schemas.openxmlformats.org/officeDocument/2006/relationships" id="256" r:id="R5050af986edf4ab1"/>
    <p:sldId xmlns:r="http://schemas.openxmlformats.org/officeDocument/2006/relationships" id="257" r:id="Rab72cfe4bc06410a"/>
    <p:sldId xmlns:r="http://schemas.openxmlformats.org/officeDocument/2006/relationships" id="258" r:id="Rd8e1479cc4eb4070"/>
    <p:sldId xmlns:r="http://schemas.openxmlformats.org/officeDocument/2006/relationships" id="259" r:id="Rb8202241546c4df4"/>
    <p:sldId xmlns:r="http://schemas.openxmlformats.org/officeDocument/2006/relationships" id="260" r:id="R6f44a8bff4df4a98"/>
    <p:sldId xmlns:r="http://schemas.openxmlformats.org/officeDocument/2006/relationships" id="261" r:id="R776a151309a0477b"/>
    <p:sldId xmlns:r="http://schemas.openxmlformats.org/officeDocument/2006/relationships" id="262" r:id="Ra865c0bc51c14001"/>
    <p:sldId xmlns:r="http://schemas.openxmlformats.org/officeDocument/2006/relationships" id="263" r:id="R51333f776f0f42ed"/>
    <p:sldId xmlns:r="http://schemas.openxmlformats.org/officeDocument/2006/relationships" id="264" r:id="R4050ee4a9feb4142"/>
    <p:sldId xmlns:r="http://schemas.openxmlformats.org/officeDocument/2006/relationships" id="265" r:id="R7c2aca4bd2e14e8a"/>
    <p:sldId xmlns:r="http://schemas.openxmlformats.org/officeDocument/2006/relationships" id="266" r:id="R5f152a7bb108465d"/>
    <p:sldId xmlns:r="http://schemas.openxmlformats.org/officeDocument/2006/relationships" id="267" r:id="R29da9182ab3a47b8"/>
    <p:sldId xmlns:r="http://schemas.openxmlformats.org/officeDocument/2006/relationships" id="268" r:id="R6d915874d0214dec"/>
    <p:sldId xmlns:r="http://schemas.openxmlformats.org/officeDocument/2006/relationships" id="269" r:id="R74b7c26e728a4492"/>
    <p:sldId xmlns:r="http://schemas.openxmlformats.org/officeDocument/2006/relationships" id="270" r:id="R2dc404d87d2145a3"/>
    <p:sldId xmlns:r="http://schemas.openxmlformats.org/officeDocument/2006/relationships" id="271" r:id="R5ab70141c0c64bb9"/>
    <p:sldId xmlns:r="http://schemas.openxmlformats.org/officeDocument/2006/relationships" id="272" r:id="Rb9e1fa4b4eba4ad9"/>
    <p:sldId xmlns:r="http://schemas.openxmlformats.org/officeDocument/2006/relationships" id="273" r:id="R40d2047e9a524f69"/>
    <p:sldId xmlns:r="http://schemas.openxmlformats.org/officeDocument/2006/relationships" id="274" r:id="R2ce32f8e0da94f30"/>
    <p:sldId xmlns:r="http://schemas.openxmlformats.org/officeDocument/2006/relationships" id="275" r:id="R8923e92eb5ec40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3b59772efd498b" /><Relationship Type="http://schemas.openxmlformats.org/officeDocument/2006/relationships/slideMaster" Target="/ppt/slideMasters/slideMaster1.xml" Id="R7ea3adc388404f24" /><Relationship Type="http://schemas.openxmlformats.org/officeDocument/2006/relationships/notesMaster" Target="/ppt/notesMasters/notesMaster1.xml" Id="Rac0b528f0bac41bf" /><Relationship Type="http://schemas.openxmlformats.org/officeDocument/2006/relationships/presProps" Target="/ppt/presProps.xml" Id="Ra2d39655bf254c38" /><Relationship Type="http://schemas.openxmlformats.org/officeDocument/2006/relationships/tableStyles" Target="/ppt/tableStyles.xml" Id="Raada9dcb50c94b14" /><Relationship Type="http://schemas.openxmlformats.org/officeDocument/2006/relationships/slide" Target="/ppt/slides/slide1.xml" Id="R5050af986edf4ab1" /><Relationship Type="http://schemas.openxmlformats.org/officeDocument/2006/relationships/slide" Target="/ppt/slides/slide2.xml" Id="Rab72cfe4bc06410a" /><Relationship Type="http://schemas.openxmlformats.org/officeDocument/2006/relationships/slide" Target="/ppt/slides/slide3.xml" Id="Rd8e1479cc4eb4070" /><Relationship Type="http://schemas.openxmlformats.org/officeDocument/2006/relationships/slide" Target="/ppt/slides/slide4.xml" Id="Rb8202241546c4df4" /><Relationship Type="http://schemas.openxmlformats.org/officeDocument/2006/relationships/slide" Target="/ppt/slides/slide5.xml" Id="R6f44a8bff4df4a98" /><Relationship Type="http://schemas.openxmlformats.org/officeDocument/2006/relationships/slide" Target="/ppt/slides/slide6.xml" Id="R776a151309a0477b" /><Relationship Type="http://schemas.openxmlformats.org/officeDocument/2006/relationships/slide" Target="/ppt/slides/slide7.xml" Id="Ra865c0bc51c14001" /><Relationship Type="http://schemas.openxmlformats.org/officeDocument/2006/relationships/slide" Target="/ppt/slides/slide8.xml" Id="R51333f776f0f42ed" /><Relationship Type="http://schemas.openxmlformats.org/officeDocument/2006/relationships/slide" Target="/ppt/slides/slide9.xml" Id="R4050ee4a9feb4142" /><Relationship Type="http://schemas.openxmlformats.org/officeDocument/2006/relationships/slide" Target="/ppt/slides/slide10.xml" Id="R7c2aca4bd2e14e8a" /><Relationship Type="http://schemas.openxmlformats.org/officeDocument/2006/relationships/slide" Target="/ppt/slides/slide11.xml" Id="R5f152a7bb108465d" /><Relationship Type="http://schemas.openxmlformats.org/officeDocument/2006/relationships/slide" Target="/ppt/slides/slide12.xml" Id="R29da9182ab3a47b8" /><Relationship Type="http://schemas.openxmlformats.org/officeDocument/2006/relationships/slide" Target="/ppt/slides/slide13.xml" Id="R6d915874d0214dec" /><Relationship Type="http://schemas.openxmlformats.org/officeDocument/2006/relationships/slide" Target="/ppt/slides/slide14.xml" Id="R74b7c26e728a4492" /><Relationship Type="http://schemas.openxmlformats.org/officeDocument/2006/relationships/slide" Target="/ppt/slides/slide15.xml" Id="R2dc404d87d2145a3" /><Relationship Type="http://schemas.openxmlformats.org/officeDocument/2006/relationships/slide" Target="/ppt/slides/slide16.xml" Id="R5ab70141c0c64bb9" /><Relationship Type="http://schemas.openxmlformats.org/officeDocument/2006/relationships/slide" Target="/ppt/slides/slide17.xml" Id="Rb9e1fa4b4eba4ad9" /><Relationship Type="http://schemas.openxmlformats.org/officeDocument/2006/relationships/slide" Target="/ppt/slides/slide18.xml" Id="R40d2047e9a524f69" /><Relationship Type="http://schemas.openxmlformats.org/officeDocument/2006/relationships/slide" Target="/ppt/slides/slide19.xml" Id="R2ce32f8e0da94f30" /><Relationship Type="http://schemas.openxmlformats.org/officeDocument/2006/relationships/slide" Target="/ppt/slides/slide20.xml" Id="R8923e92eb5ec40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0012166e3b49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c0a120f57b413f" /><Relationship Type="http://schemas.openxmlformats.org/officeDocument/2006/relationships/notesMaster" Target="/ppt/notesMasters/notesMaster1.xml" Id="R07dee69ed25446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b9373bea8d40d8" /><Relationship Type="http://schemas.openxmlformats.org/officeDocument/2006/relationships/notesMaster" Target="/ppt/notesMasters/notesMaster1.xml" Id="R45b95d8ee0fa44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2a9233e9224da7" /><Relationship Type="http://schemas.openxmlformats.org/officeDocument/2006/relationships/notesMaster" Target="/ppt/notesMasters/notesMaster1.xml" Id="R6928bd1363bd4f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8f39488502454a" /><Relationship Type="http://schemas.openxmlformats.org/officeDocument/2006/relationships/notesMaster" Target="/ppt/notesMasters/notesMaster1.xml" Id="R494722dfccd64b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12572f23a344dd" /><Relationship Type="http://schemas.openxmlformats.org/officeDocument/2006/relationships/notesMaster" Target="/ppt/notesMasters/notesMaster1.xml" Id="Rad3b8b0d9c104a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fe5a1d05f34c68" /><Relationship Type="http://schemas.openxmlformats.org/officeDocument/2006/relationships/notesMaster" Target="/ppt/notesMasters/notesMaster1.xml" Id="R8fc0d850ba4a4d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d12783a1ad44b5" /><Relationship Type="http://schemas.openxmlformats.org/officeDocument/2006/relationships/notesMaster" Target="/ppt/notesMasters/notesMaster1.xml" Id="R78dd045869994d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aa2cbf52434d22" /><Relationship Type="http://schemas.openxmlformats.org/officeDocument/2006/relationships/notesMaster" Target="/ppt/notesMasters/notesMaster1.xml" Id="Rb06f7853cea048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af4064cd004267" /><Relationship Type="http://schemas.openxmlformats.org/officeDocument/2006/relationships/notesMaster" Target="/ppt/notesMasters/notesMaster1.xml" Id="R3aeb1bac931b42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4bc168526946f2" /><Relationship Type="http://schemas.openxmlformats.org/officeDocument/2006/relationships/notesMaster" Target="/ppt/notesMasters/notesMaster1.xml" Id="Re724e1f638e446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c6377d09564bde" /><Relationship Type="http://schemas.openxmlformats.org/officeDocument/2006/relationships/notesMaster" Target="/ppt/notesMasters/notesMaster1.xml" Id="Rdfd31d407d3147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3957f4b50b403d" /><Relationship Type="http://schemas.openxmlformats.org/officeDocument/2006/relationships/notesMaster" Target="/ppt/notesMasters/notesMaster1.xml" Id="R47175e4c9f394a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60ddf044a34f0b" /><Relationship Type="http://schemas.openxmlformats.org/officeDocument/2006/relationships/notesMaster" Target="/ppt/notesMasters/notesMaster1.xml" Id="Rba0dea3234d742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eb855f9e214994" /><Relationship Type="http://schemas.openxmlformats.org/officeDocument/2006/relationships/notesMaster" Target="/ppt/notesMasters/notesMaster1.xml" Id="Rb4990952717443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e86236b0314e50" /><Relationship Type="http://schemas.openxmlformats.org/officeDocument/2006/relationships/notesMaster" Target="/ppt/notesMasters/notesMaster1.xml" Id="Rdf0239a06ec241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c5fd5177f8475b" /><Relationship Type="http://schemas.openxmlformats.org/officeDocument/2006/relationships/notesMaster" Target="/ppt/notesMasters/notesMaster1.xml" Id="Rbdd39e22150a40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1701e2dcd84eec" /><Relationship Type="http://schemas.openxmlformats.org/officeDocument/2006/relationships/notesMaster" Target="/ppt/notesMasters/notesMaster1.xml" Id="R56803b2285f24a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4da3f169734bb4" /><Relationship Type="http://schemas.openxmlformats.org/officeDocument/2006/relationships/notesMaster" Target="/ppt/notesMasters/notesMaster1.xml" Id="Ra14898da24d2494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9291849cf84fb3" /><Relationship Type="http://schemas.openxmlformats.org/officeDocument/2006/relationships/notesMaster" Target="/ppt/notesMasters/notesMaster1.xml" Id="R5bfbe95f44964e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60c89dce0749e3" /><Relationship Type="http://schemas.openxmlformats.org/officeDocument/2006/relationships/notesMaster" Target="/ppt/notesMasters/notesMaster1.xml" Id="Rd076c6ceccdf4a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可重复使用的HR月报模板。所有数字、工号和姓名均为明确标注的示例数据，不代表真实员工或正式统计。设计参考用户提供的6月、7月、8月HR月报。背景为本次Image Gen原创素材。系统接入后必须复用现有统计规则。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3aba3b17f4d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8fd98a3f194c7f" /><Relationship Type="http://schemas.openxmlformats.org/officeDocument/2006/relationships/slideLayout" Target="/ppt/slideLayouts/slideLayout1.xml" Id="Rc8e8cd76831e4e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e8cd76831e4e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c4d705ddc47e0" /><Relationship Type="http://schemas.openxmlformats.org/officeDocument/2006/relationships/image" Target="/ppt/media/image.png" Id="R67a23b4b57d04cfb" /><Relationship Type="http://schemas.openxmlformats.org/officeDocument/2006/relationships/notesSlide" Target="/ppt/notesSlides/notesSlide1.xml" Id="R3f3b3ffd5b2848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afc3b77844d52" /><Relationship Type="http://schemas.openxmlformats.org/officeDocument/2006/relationships/notesSlide" Target="/ppt/notesSlides/notesSlide2.xml" Id="R592997872db34d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b1a7a067e48dd" /><Relationship Type="http://schemas.openxmlformats.org/officeDocument/2006/relationships/chart" Target="/ppt/slides/charts/chart1.xml" Id="Re82c70543b044ee0" /><Relationship Type="http://schemas.openxmlformats.org/officeDocument/2006/relationships/notesSlide" Target="/ppt/notesSlides/notesSlide3.xml" Id="Rb1657bcfd4a645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b3179042d4823" /><Relationship Type="http://schemas.openxmlformats.org/officeDocument/2006/relationships/notesSlide" Target="/ppt/notesSlides/notesSlide4.xml" Id="R414e81dbdec04c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063d7538142a5" /><Relationship Type="http://schemas.openxmlformats.org/officeDocument/2006/relationships/chart" Target="/ppt/slides/charts/chart2.xml" Id="R24ec6cc962f0487a" /><Relationship Type="http://schemas.openxmlformats.org/officeDocument/2006/relationships/notesSlide" Target="/ppt/notesSlides/notesSlide5.xml" Id="R595eabae705c4c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b2ba43958416c" /><Relationship Type="http://schemas.openxmlformats.org/officeDocument/2006/relationships/notesSlide" Target="/ppt/notesSlides/notesSlide6.xml" Id="Rbe96dc95c35342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93c64643c4f43" /><Relationship Type="http://schemas.openxmlformats.org/officeDocument/2006/relationships/notesSlide" Target="/ppt/notesSlides/notesSlide7.xml" Id="Rf1d77422b86841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44380085a4d5d" /><Relationship Type="http://schemas.openxmlformats.org/officeDocument/2006/relationships/notesSlide" Target="/ppt/notesSlides/notesSlide8.xml" Id="Rc222893e23d340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a0e137ec14cce" /><Relationship Type="http://schemas.openxmlformats.org/officeDocument/2006/relationships/chart" Target="/ppt/slides/charts/chart3.xml" Id="Rb18b05190ccb4b1c" /><Relationship Type="http://schemas.openxmlformats.org/officeDocument/2006/relationships/notesSlide" Target="/ppt/notesSlides/notesSlide9.xml" Id="R417b4c44315c45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ffb0448354a4b" /><Relationship Type="http://schemas.openxmlformats.org/officeDocument/2006/relationships/notesSlide" Target="/ppt/notesSlides/notesSlide10.xml" Id="R5abd290470f24f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c2d3015f34862" /><Relationship Type="http://schemas.openxmlformats.org/officeDocument/2006/relationships/notesSlide" Target="/ppt/notesSlides/notesSlide11.xml" Id="R2bf16387f01d45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a7c9863004a92" /><Relationship Type="http://schemas.openxmlformats.org/officeDocument/2006/relationships/notesSlide" Target="/ppt/notesSlides/notesSlide12.xml" Id="Rd88b9baff26c49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b15b881d64e27" /><Relationship Type="http://schemas.openxmlformats.org/officeDocument/2006/relationships/notesSlide" Target="/ppt/notesSlides/notesSlide13.xml" Id="Recf70a645bd14e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e1e8ee28740aa" /><Relationship Type="http://schemas.openxmlformats.org/officeDocument/2006/relationships/notesSlide" Target="/ppt/notesSlides/notesSlide14.xml" Id="R3a413be713ed48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703dfb82b4cb7" /><Relationship Type="http://schemas.openxmlformats.org/officeDocument/2006/relationships/notesSlide" Target="/ppt/notesSlides/notesSlide15.xml" Id="Rca65d216a20e4a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6066f96674ab6" /><Relationship Type="http://schemas.openxmlformats.org/officeDocument/2006/relationships/notesSlide" Target="/ppt/notesSlides/notesSlide16.xml" Id="Rf0f8b99828f944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2c824a567437c" /><Relationship Type="http://schemas.openxmlformats.org/officeDocument/2006/relationships/notesSlide" Target="/ppt/notesSlides/notesSlide17.xml" Id="R0b0af7aa64ee49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18dee2ec142a9" /><Relationship Type="http://schemas.openxmlformats.org/officeDocument/2006/relationships/notesSlide" Target="/ppt/notesSlides/notesSlide18.xml" Id="Rdf2c3a17264d4f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0853ebdf74abe" /><Relationship Type="http://schemas.openxmlformats.org/officeDocument/2006/relationships/notesSlide" Target="/ppt/notesSlides/notesSlide19.xml" Id="Rdc7e1a91baeb4f0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9304439784e8f" /><Relationship Type="http://schemas.openxmlformats.org/officeDocument/2006/relationships/notesSlide" Target="/ppt/notesSlides/notesSlide20.xml" Id="R2c7fa972461d426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CM / TR</c:v>
          </c:tx>
          <c:spPr>
            <a:solidFill xmlns:a="http://schemas.openxmlformats.org/drawingml/2006/main">
              <a:srgbClr val="175540"/>
            </a:solidFill>
          </c:spPr>
          <c:cat>
            <c:strRef>
              <c:f>'Chart Data'!$A$2:$A$5</c:f>
              <c:strCache>
                <c:ptCount val="4"/>
                <c:pt idx="0">
                  <c:v>安全</c:v>
                </c:pt>
                <c:pt idx="1">
                  <c:v>礼貌</c:v>
                </c:pt>
                <c:pt idx="2">
                  <c:v>效率</c:v>
                </c:pt>
                <c:pt idx="3">
                  <c:v>其他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v>LEAD</c:v>
          </c:tx>
          <c:spPr>
            <a:solidFill xmlns:a="http://schemas.openxmlformats.org/drawingml/2006/main">
              <a:srgbClr val="8AA99A"/>
            </a:solidFill>
          </c:spPr>
          <c:cat>
            <c:strRef>
              <c:f>'Chart Data'!$C$2:$C$5</c:f>
              <c:strCache>
                <c:ptCount val="4"/>
                <c:pt idx="0">
                  <c:v>安全</c:v>
                </c:pt>
                <c:pt idx="1">
                  <c:v>礼貌</c:v>
                </c:pt>
                <c:pt idx="2">
                  <c:v>效率</c:v>
                </c:pt>
                <c:pt idx="3">
                  <c:v>其他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7554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554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CM / TR</c:v>
          </c:tx>
          <c:spPr>
            <a:solidFill xmlns:a="http://schemas.openxmlformats.org/drawingml/2006/main">
              <a:srgbClr val="175540"/>
            </a:solidFill>
          </c:spPr>
          <c:cat>
            <c:strRef>
              <c:f>'Chart Data'!$A$2:$A$6</c:f>
              <c:strCache>
                <c:ptCount val="5"/>
                <c:pt idx="0">
                  <c:v>安全</c:v>
                </c:pt>
                <c:pt idx="1">
                  <c:v>礼貌</c:v>
                </c:pt>
                <c:pt idx="2">
                  <c:v>包容</c:v>
                </c:pt>
                <c:pt idx="3">
                  <c:v>演出</c:v>
                </c:pt>
                <c:pt idx="4">
                  <c:v>效率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150</c:v>
                </c:pt>
                <c:pt idx="1">
                  <c:v>240</c:v>
                </c:pt>
                <c:pt idx="2">
                  <c:v>100</c:v>
                </c:pt>
                <c:pt idx="3">
                  <c:v>180</c:v>
                </c:pt>
                <c:pt idx="4">
                  <c:v>170</c:v>
                </c:pt>
              </c:numCache>
            </c:numRef>
          </c:val>
        </c:ser>
        <c:ser>
          <c:idx val="1"/>
          <c:order val="1"/>
          <c:tx>
            <c:v>LEAD</c:v>
          </c:tx>
          <c:spPr>
            <a:solidFill xmlns:a="http://schemas.openxmlformats.org/drawingml/2006/main">
              <a:srgbClr val="8AA99A"/>
            </a:solidFill>
          </c:spPr>
          <c:cat>
            <c:strRef>
              <c:f>'Chart Data'!$C$2:$C$6</c:f>
              <c:strCache>
                <c:ptCount val="5"/>
                <c:pt idx="0">
                  <c:v>安全</c:v>
                </c:pt>
                <c:pt idx="1">
                  <c:v>礼貌</c:v>
                </c:pt>
                <c:pt idx="2">
                  <c:v>包容</c:v>
                </c:pt>
                <c:pt idx="3">
                  <c:v>演出</c:v>
                </c:pt>
                <c:pt idx="4">
                  <c:v>效率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20</c:v>
                </c:pt>
                <c:pt idx="1">
                  <c:v>30</c:v>
                </c:pt>
                <c:pt idx="2">
                  <c:v>15</c:v>
                </c:pt>
                <c:pt idx="3">
                  <c:v>25</c:v>
                </c:pt>
                <c:pt idx="4">
                  <c:v>30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7554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554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认可率（%）</c:v>
          </c:tx>
          <c:spPr>
            <a:solidFill xmlns:a="http://schemas.openxmlformats.org/drawingml/2006/main">
              <a:srgbClr val="175540"/>
            </a:solidFill>
            <a:ln xmlns:a="http://schemas.openxmlformats.org/drawingml/2006/main" w="28575">
              <a:solidFill>
                <a:srgbClr val="175540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175540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06月</c:v>
                </c:pt>
                <c:pt idx="1">
                  <c:v>07月</c:v>
                </c:pt>
                <c:pt idx="2">
                  <c:v>08月</c:v>
                </c:pt>
                <c:pt idx="3">
                  <c:v>09月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250</c:v>
                </c:pt>
                <c:pt idx="1">
                  <c:v>275</c:v>
                </c:pt>
                <c:pt idx="2">
                  <c:v>288</c:v>
                </c:pt>
                <c:pt idx="3">
                  <c:v>300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7554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23b4b57d04cfb"/>
          <a:srcRect xmlns:a="http://schemas.openxmlformats.org/drawingml/2006/main" l="35930" t="0" r="359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DE716-4CD2-478C-BFBB-991A21BF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714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HR 月报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3CE95-D0D1-4BE7-8C00-CC375057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Forest &amp; Zootopia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86F8F-ABA5-42A8-A1FB-51FEAE35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2026年09月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ABDCC-F327-4436-896F-BA68347A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报告范围：全部授权景点圈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8F534-066F-4315-9DBB-87A53C56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487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简约汇报 / 示例数据</a:t>
            </a:r>
          </a:p>
        </p:txBody>
      </p:sp>
    </p:spTree>
    <p:extLst>
      <p:ext uri="{BB962C8B-B14F-4D97-AF65-F5344CB8AC3E}">
        <p14:creationId xmlns:p14="http://schemas.microsoft.com/office/powerpoint/2010/main" val="344300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132DE-FEB6-46D2-8396-E1809A13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月度概览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CDFD6-285F-41F3-9EB2-0F0F8126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2026年09月  草稿示例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D8357-C466-4838-9D1B-F765FE65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7657F-8313-4DF2-ADA3-40C88C34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D4AF1-40F4-47E2-83F3-19899858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统计人数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6378F-8B44-4A16-B50E-5F2B1C28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320 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5666B-4A27-4A03-88DE-D7397D43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认可登记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43A77-BFE5-42D5-972E-740A71C5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241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960 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BCC2D-CADF-4310-8F88-3E4475E9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处分登记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2B355-5D48-4313-AE61-C07D6D4C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241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24 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FE81D-4DAB-4525-8348-F532342A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认可率 300%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A51FC-DA39-4652-8413-68358F4A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认可率 = 认可数量 ÷ 统计人数 × 100%，可以超过100%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98EF3-3AD1-4B6B-A418-2E0E256D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月结前标注草稿。LOA涉及月份保留记录，但不参与计分和排名。</a:t>
            </a:r>
          </a:p>
        </p:txBody>
      </p:sp>
    </p:spTree>
    <p:extLst>
      <p:ext uri="{BB962C8B-B14F-4D97-AF65-F5344CB8AC3E}">
        <p14:creationId xmlns:p14="http://schemas.microsoft.com/office/powerpoint/2010/main" val="1763505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D9C98-38E0-478C-BBE8-00FE5D96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减分分类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53599-E987-47CD-AC04-2E006F9B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按事件记录次数分类  单位：条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CAF93-3D1E-48EF-9A62-1AB03A6C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0BF74-4054-4C75-B32B-908DA033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2c70543b044ee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B326C-B05E-452D-BED6-43BC2622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本页展示次数，实际扣分以系统月度计分结果为准。</a:t>
            </a:r>
          </a:p>
        </p:txBody>
      </p:sp>
    </p:spTree>
    <p:extLst>
      <p:ext uri="{BB962C8B-B14F-4D97-AF65-F5344CB8AC3E}">
        <p14:creationId xmlns:p14="http://schemas.microsoft.com/office/powerpoint/2010/main" val="438197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681C4-4E15-476B-B1FE-1FABAD26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减分分类：景点圈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CC926-31B4-4CA1-8F11-5F2CF10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景点归属使用事件快照  示例数据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D0BEE-CC1E-4A7D-8AEE-048483E1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37606-35FA-4036-8243-A32CAC6D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景点圈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 / TR次数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LEAD次数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总次数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示例景点圈B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197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C90E4-2DB4-4411-90BF-AE2A710F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加分分类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24910-EEEC-4AE3-A2FA-00589E82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按已通过认可记录次数分类  单位：条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A3F61-0D4B-425D-B010-9209AECC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C3BC9-C452-4124-8289-E4EF2525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ec6cc962f0487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8916F-35C8-40BA-96DF-5EA29F5E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记录数量与实际计入分值分别统计，不混用。</a:t>
            </a:r>
          </a:p>
        </p:txBody>
      </p:sp>
    </p:spTree>
    <p:extLst>
      <p:ext uri="{BB962C8B-B14F-4D97-AF65-F5344CB8AC3E}">
        <p14:creationId xmlns:p14="http://schemas.microsoft.com/office/powerpoint/2010/main" val="1320432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AA3E2-7DCD-4D47-B540-8639BC06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加分分类：景点圈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DC574-B2B1-43D9-8C7D-44616AEB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按景点圈及人员类别汇总  单位：条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9EF9B-D947-4C0E-ABA7-DDA82865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0F122-DBC6-4647-8074-0C11B9E4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景点圈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 / TR认可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LEAD认可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总记录数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示例景点圈B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146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98B71-4687-4A9A-9D4F-BB704B1E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认可发放排名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29E3E-6855-4895-B6A1-7B5B6403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按签卡人发放数量排序  单位：条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30ACC-F381-4E8E-A106-08E7933F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667B6-4104-4930-97AB-5EFA17B2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排名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登记人 / 签卡人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景点圈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发放数量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示例登记人01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示例登记人02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示例景点圈B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示例登记人03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示例登记人04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示例景点圈A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示例登记人05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示例登记人06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示例景点圈C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E89B9-D3E5-45AE-BCF5-ABBE973F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签卡人与代录操作人分开统计，避免重复累计。</a:t>
            </a:r>
          </a:p>
        </p:txBody>
      </p:sp>
    </p:spTree>
    <p:extLst>
      <p:ext uri="{BB962C8B-B14F-4D97-AF65-F5344CB8AC3E}">
        <p14:creationId xmlns:p14="http://schemas.microsoft.com/office/powerpoint/2010/main" val="188672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6A60D-0292-4DC6-8C29-712F348C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认可统计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58B7B-7410-4E0C-AB5E-8C733402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认可率与员工覆盖率采用不同口径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654E2-CAAF-4C93-838A-25E37207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FDF77-FE58-4D85-A679-C16F22F8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景点圈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认可数量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统计人数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认可率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示例景点圈B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105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300%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265.22%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300%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E80C6-4768-44A9-B269-4D340763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认可率 = 认可数量 ÷ 统计人数 × 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B8212-E231-4934-BBBF-CCF1C337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统计人数、LOA排除和历史归属以对应月份规则为准。</a:t>
            </a:r>
          </a:p>
        </p:txBody>
      </p:sp>
    </p:spTree>
    <p:extLst>
      <p:ext uri="{BB962C8B-B14F-4D97-AF65-F5344CB8AC3E}">
        <p14:creationId xmlns:p14="http://schemas.microsoft.com/office/powerpoint/2010/main" val="6912390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F8D7B-7395-4C2F-B5FC-D1B019E6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认可率历史趋势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4C425-2F0B-459B-9688-F5DD5C75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同一报告范围、同一人数口径  单位：%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2810A-4194-492D-AE03-D0273EF4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F914E-10DE-4B35-B833-5367E814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8b05190ccb4b1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8A65F-C966-4EB0-9E6C-10FE7D22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无历史数据时显示“数据缺失”，不补造数值。</a:t>
            </a:r>
          </a:p>
        </p:txBody>
      </p:sp>
    </p:spTree>
    <p:extLst>
      <p:ext uri="{BB962C8B-B14F-4D97-AF65-F5344CB8AC3E}">
        <p14:creationId xmlns:p14="http://schemas.microsoft.com/office/powerpoint/2010/main" val="6560376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A47F6-0D88-4B27-A6CE-6A3715E7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小组分排名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D4A71-2A47-4C40-926E-F28ED649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按系统计算的小组平均分降序排列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3C763-9C25-47AF-B3E3-448C9C59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58395-E3F1-423A-A6A5-84A11078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排名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小组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景点圈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计分人数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平均分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示例小组1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示例小组2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示例景点圈B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14.90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示例小组3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示例小组4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示例景点圈A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13.70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示例小组5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示例小组6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示例景点圈C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FA3A4-4F51-4AC1-A890-14F120A1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复用计分上限、LOA及月结口径。历史小组使用当月归属快照。</a:t>
            </a:r>
          </a:p>
        </p:txBody>
      </p:sp>
    </p:spTree>
    <p:extLst>
      <p:ext uri="{BB962C8B-B14F-4D97-AF65-F5344CB8AC3E}">
        <p14:creationId xmlns:p14="http://schemas.microsoft.com/office/powerpoint/2010/main" val="18453564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A37AB-712B-4AB4-BD75-4FADB70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优秀员工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6700A-EFC1-41BC-8D86-7B28538A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系统推荐候选，经人工确认后纳入正式月报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0775A-3FE7-4D2A-82A1-0D34442F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15079-2286-46D4-9333-D1037D9B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人员类别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候选员工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景点圈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推荐依据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示例候选01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月度PR排名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示例候选02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示例景点圈B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月度PR排名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示例候选03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示例景点圈C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月度PR排名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99844-1772-4647-A78C-CBB63B8D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名单状态：示例展示，尚未人工确认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B58C7-2EF7-4CC4-B7D4-FFBAA6B2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事迹说明由使用者填写。未确认名单时，正式导出跳过本页。</a:t>
            </a:r>
          </a:p>
        </p:txBody>
      </p:sp>
    </p:spTree>
    <p:extLst>
      <p:ext uri="{BB962C8B-B14F-4D97-AF65-F5344CB8AC3E}">
        <p14:creationId xmlns:p14="http://schemas.microsoft.com/office/powerpoint/2010/main" val="10120952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C9996-C51E-45F3-BD7C-0DDA3E6C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PR排名：CM / TR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B563B-9508-4A47-B1B3-FEF55B7F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示例景点圈A  1 / 2  每页最多8人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A8447-247D-40C2-8F95-34A22AEE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1A224-B930-43EE-9B41-DBCA42C5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1524000"/>
                <a:gridCol w="1571625"/>
                <a:gridCol w="1666875"/>
                <a:gridCol w="1666875"/>
                <a:gridCol w="1685925"/>
              </a:tblGrid>
              <a:tr h="45508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排名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员工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工号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加分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实际扣分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全勤分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综合分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19.70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7.10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19.10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6.50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18.50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示例员工08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9000008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5.90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17.90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55B16-C9CB-4EA2-85A5-D870C539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LOA排除计分，排名及分值复用系统正式口径。</a:t>
            </a:r>
          </a:p>
        </p:txBody>
      </p:sp>
    </p:spTree>
    <p:extLst>
      <p:ext uri="{BB962C8B-B14F-4D97-AF65-F5344CB8AC3E}">
        <p14:creationId xmlns:p14="http://schemas.microsoft.com/office/powerpoint/2010/main" val="403053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58410-90E1-4AB9-ADB3-2FF51604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PR排名：CM / TR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8F734-441E-4ABF-A924-992C69C7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示例景点圈A  2 / 2  每页最多8人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4A092-0595-4A6B-8141-245E9CA4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2ED75-01E7-47C1-93A1-0442F67C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1524000"/>
                <a:gridCol w="1571625"/>
                <a:gridCol w="1666875"/>
                <a:gridCol w="1666875"/>
                <a:gridCol w="1685925"/>
              </a:tblGrid>
              <a:tr h="45508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排名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员工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工号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加分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实际扣分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全勤分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综合分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示例员工10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9000010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17.30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示例员工12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9000012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4.70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16.70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示例员工14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9000014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16.10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示例员工16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9000016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15.50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318A9-652D-4CB0-A2A2-AB80A740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LOA排除计分，排名及分值复用系统正式口径。</a:t>
            </a:r>
          </a:p>
        </p:txBody>
      </p:sp>
    </p:spTree>
    <p:extLst>
      <p:ext uri="{BB962C8B-B14F-4D97-AF65-F5344CB8AC3E}">
        <p14:creationId xmlns:p14="http://schemas.microsoft.com/office/powerpoint/2010/main" val="9896942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95A74-D1D0-4618-BFA5-C28ABCA7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PR排名：LEAD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8BE24-453F-4853-8E60-55BDC54C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示例景点圈A  1 / 1  每页最多8人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4A65A-7529-4B9C-BC1B-94CD5B09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6AB33-07BF-4758-B26E-36E732BB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1524000"/>
                <a:gridCol w="1571625"/>
                <a:gridCol w="1666875"/>
                <a:gridCol w="1666875"/>
                <a:gridCol w="1685925"/>
              </a:tblGrid>
              <a:tr h="45508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排名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员工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工号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加分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实际扣分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全勤分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综合分</a:t>
                      </a:r>
                    </a:p>
                  </a:txBody>
                  <a:tcPr marL="91440" marR="91440" marT="45720" marB="45720">
                    <a:solidFill>
                      <a:srgbClr val="175540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9000002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19.70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9000004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7.10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19.10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9000006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6.50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18.50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示例员工08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9000008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5.90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55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17.90</a:t>
                      </a:r>
                    </a:p>
                  </a:txBody>
                  <a:tcPr marL="91440" marR="91440" marT="45720" marB="45720">
                    <a:solidFill>
                      <a:srgbClr val="EAF4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32AEC-EE52-4F44-A8AC-79828C4D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LOA排除计分，排名及分值复用系统正式口径。</a:t>
            </a:r>
          </a:p>
        </p:txBody>
      </p:sp>
    </p:spTree>
    <p:extLst>
      <p:ext uri="{BB962C8B-B14F-4D97-AF65-F5344CB8AC3E}">
        <p14:creationId xmlns:p14="http://schemas.microsoft.com/office/powerpoint/2010/main" val="17124732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497CE-20F3-4955-A435-A327F418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月度工作与规则说明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6245D-8967-4542-868C-B4BB317A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人工补充章节  无内容时隐藏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FFD41-9CE5-46E9-B1C0-B82361F3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2613E-B65F-4AD1-839B-452A4A40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79B95-C7C3-4C02-9098-B01DEC10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本月工作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7FDF8-D049-446A-B1FD-A5D589C1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在此填写实际工作说明、适用范围及完成情况。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F3BAC-251C-4E30-B654-66E81767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规则说明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90DBC-3C8B-4769-8DEC-8FB47E65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在此填写已确认的规则变更及生效日期。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0CEBD-0B1F-4CA8-BE53-CE8F8D78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该章节不作为新增业务规则的数据来源。</a:t>
            </a:r>
          </a:p>
        </p:txBody>
      </p:sp>
    </p:spTree>
    <p:extLst>
      <p:ext uri="{BB962C8B-B14F-4D97-AF65-F5344CB8AC3E}">
        <p14:creationId xmlns:p14="http://schemas.microsoft.com/office/powerpoint/2010/main" val="5404679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8ACC6-FE06-417C-8608-AFD83467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团队活动：单张大图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B1918-2771-41D1-9EBA-1209308E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照片及活动说明由使用者提供  未上传时跳过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89174-4257-43B3-A004-0DC04127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6148B-72D8-466C-8A44-4E2845AC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36164-1346-45AD-94D2-43C162FB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001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C"/>
          </a:solidFill>
          <a:ln xmlns:a="http://schemas.openxmlformats.org/drawingml/2006/main" w="9525">
            <a:solidFill>
              <a:srgbClr val="91B7A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868C4-0AB0-4386-81E5-677471C0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2813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照片插入区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690D2-36E2-4311-84E1-0EF1ED8B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0225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活动名称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5C752-1C80-458E-A9D6-F7FC8762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428875"/>
            <a:ext cx="2552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日期、地点与简短活动说明</a:t>
            </a:r>
          </a:p>
        </p:txBody>
      </p:sp>
    </p:spTree>
    <p:extLst>
      <p:ext uri="{BB962C8B-B14F-4D97-AF65-F5344CB8AC3E}">
        <p14:creationId xmlns:p14="http://schemas.microsoft.com/office/powerpoint/2010/main" val="11328200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7A98D-1801-4D07-8285-587D155B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团队活动：双图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261B9-8A85-42A3-83E7-236AFCA7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照片及活动说明由使用者提供  未上传时跳过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2D1A2-ED35-462E-9164-FE2AC87A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80C53-240E-4F93-AFF7-1E47787E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1DF6A-DF45-4AFD-B17F-851A3050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334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C"/>
          </a:solidFill>
          <a:ln xmlns:a="http://schemas.openxmlformats.org/drawingml/2006/main" w="9525">
            <a:solidFill>
              <a:srgbClr val="91B7A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29193-F415-46BF-9EB5-FF40BE07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62313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照片插入区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AB3AE-C3F2-4501-A0A5-B0038AB8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3340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C"/>
          </a:solidFill>
          <a:ln xmlns:a="http://schemas.openxmlformats.org/drawingml/2006/main" w="9525">
            <a:solidFill>
              <a:srgbClr val="91B7A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FBE38-327B-4A95-9812-138EF0F6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62313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照片插入区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4B927-273F-47B7-A6DA-37531B61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活动名称、日期与说明</a:t>
            </a:r>
          </a:p>
        </p:txBody>
      </p:sp>
    </p:spTree>
    <p:extLst>
      <p:ext uri="{BB962C8B-B14F-4D97-AF65-F5344CB8AC3E}">
        <p14:creationId xmlns:p14="http://schemas.microsoft.com/office/powerpoint/2010/main" val="18777658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8A0B2-81C3-4AF5-BD25-5F8432E8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团队活动：四图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C4DBA-2639-4B53-997E-CE3DFEBC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照片及活动说明由使用者提供  未上传时跳过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D7AEE-C2F8-4BA8-8A4C-F7B9C71A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667D6-26C0-4905-9C35-3E8099C8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F4DAA-FDF8-4FC3-86D4-0EEA8B3A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38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C"/>
          </a:solidFill>
          <a:ln xmlns:a="http://schemas.openxmlformats.org/drawingml/2006/main" w="9525">
            <a:solidFill>
              <a:srgbClr val="91B7A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40880-3F94-44F7-8018-F33A9C27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照片插入区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A9F01-BDEA-4485-BC5B-4265B404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14500"/>
            <a:ext cx="5238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C"/>
          </a:solidFill>
          <a:ln xmlns:a="http://schemas.openxmlformats.org/drawingml/2006/main" w="9525">
            <a:solidFill>
              <a:srgbClr val="91B7A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3E962-A578-49C7-8246-77933FC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2887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照片插入区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F973F-3410-4CBE-88E7-8047E03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5238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C"/>
          </a:solidFill>
          <a:ln xmlns:a="http://schemas.openxmlformats.org/drawingml/2006/main" w="9525">
            <a:solidFill>
              <a:srgbClr val="91B7A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53543-F4DE-4841-9CFD-52A004D0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照片插入区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CB815-62A5-4BC6-9617-CC90596F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81425"/>
            <a:ext cx="5238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C"/>
          </a:solidFill>
          <a:ln xmlns:a="http://schemas.openxmlformats.org/drawingml/2006/main" w="9525">
            <a:solidFill>
              <a:srgbClr val="91B7A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08591-F639-4E8D-83A6-7F9DCD2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照片插入区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9369B-D785-4A9C-9049-2D6AD9F6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活动名称、日期与说明</a:t>
            </a:r>
          </a:p>
        </p:txBody>
      </p:sp>
    </p:spTree>
    <p:extLst>
      <p:ext uri="{BB962C8B-B14F-4D97-AF65-F5344CB8AC3E}">
        <p14:creationId xmlns:p14="http://schemas.microsoft.com/office/powerpoint/2010/main" val="11718053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36AEB-2D6A-48EA-90D5-761D85E8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生日祝福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B1113-1E5D-425C-8F26-D659E01C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人员名单与生日素材由使用者提供  未提供时隐藏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3B253-BBEB-4278-AE0E-FF00E9AB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示例数据 / 非正式报告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BA955-2B8A-442B-A520-329BEF52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F1AF2-EFC3-4175-B138-6CE3456C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祝本月生日伙伴生日快乐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7F65A-4B53-4DCA-8056-A6C84A16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在此插入经授权的生日名单、照片与祝福内容。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70A14-9184-42B9-91B1-375B1A5C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系统当前未提供生日字段，不自动推测。</a:t>
            </a:r>
          </a:p>
        </p:txBody>
      </p:sp>
    </p:spTree>
    <p:extLst>
      <p:ext uri="{BB962C8B-B14F-4D97-AF65-F5344CB8AC3E}">
        <p14:creationId xmlns:p14="http://schemas.microsoft.com/office/powerpoint/2010/main" val="10520164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40BD8-3C60-464B-A594-227A8F48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感谢每一位伙伴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5C44A-B12C-466C-B8E3-4DDA48B1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5540"/>
                </a:solidFill>
                <a:latin typeface="Microsoft YaHei"/>
                <a:ea typeface="Microsoft YaHei"/>
                <a:cs typeface="Microsoft YaHei"/>
              </a:rPr>
              <a:t>一起记录认可，共同成长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766BE-38B8-4610-A8D3-5294CEBB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7366"/>
                </a:solidFill>
                <a:latin typeface="Microsoft YaHei"/>
                <a:ea typeface="Microsoft YaHei"/>
                <a:cs typeface="Microsoft YaHei"/>
              </a:rPr>
              <a:t>Forest &amp; Zootopia</a:t>
            </a:r>
          </a:p>
        </p:txBody>
      </p:sp>
    </p:spTree>
    <p:extLst>
      <p:ext uri="{BB962C8B-B14F-4D97-AF65-F5344CB8AC3E}">
        <p14:creationId xmlns:p14="http://schemas.microsoft.com/office/powerpoint/2010/main" val="1977082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2026-09-26T18:32:09.3690000Z</dcterms:created>
  <dcterms:modified xsi:type="dcterms:W3CDTF">2026-09-26T18:32:09.3690000Z</dcterms:modified>
</coreProperties>
</file>